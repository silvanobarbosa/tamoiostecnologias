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Substitua os campos entre colchetes por conteúdo validado. Fotos reais da Tamoios; dados comerciais não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jpg"/><Relationship Id="rId5" Type="http://schemas.openxmlformats.org/officeDocument/2006/relationships/image" Target="../media/image11.jp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-bandejas.jpg"/>
          <p:cNvPicPr>
            <a:picLocks noChangeAspect="1"/>
          </p:cNvPicPr>
          <p:nvPr/>
        </p:nvPicPr>
        <p:blipFill>
          <a:blip r:embed="rId2"/>
          <a:srcRect l="26302" r="26302"/>
          <a:stretch>
            <a:fillRect/>
          </a:stretch>
        </p:blipFill>
        <p:spPr>
          <a:xfrm>
            <a:off x="6413500" y="0"/>
            <a:ext cx="57785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rgbClr val="0A29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tamoios-logo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508000"/>
            <a:ext cx="1206500" cy="1206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5000" y="2159000"/>
            <a:ext cx="5207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3A216"/>
                </a:solidFill>
                <a:latin typeface="Inter"/>
              </a:defRPr>
            </a:pPr>
            <a:r>
              <a:t>TECNOLOGIA BRASILEIRA EM BIOMASSA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2762250"/>
            <a:ext cx="5715000" cy="165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600" b="0">
                <a:solidFill>
                  <a:srgbClr val="FAF9F4"/>
                </a:solidFill>
                <a:latin typeface="Fraunces"/>
              </a:defRPr>
            </a:pPr>
            <a:r>
              <a:t>Tamoios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600" b="0">
                <a:solidFill>
                  <a:srgbClr val="FAF9F4"/>
                </a:solidFill>
                <a:latin typeface="Fraunces"/>
              </a:defRPr>
            </a:pPr>
            <a:r>
              <a:t>Tecnologia.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4953000"/>
            <a:ext cx="51435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AF9F4"/>
                </a:solidFill>
                <a:latin typeface="Inter"/>
              </a:defRPr>
            </a:pPr>
            <a:r>
              <a:t>[Título da apresentação]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AF9F4"/>
                </a:solidFill>
                <a:latin typeface="Inter"/>
              </a:defRPr>
            </a:pPr>
            <a:r>
              <a:t>[Cliente · mês / ano]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AF9F4"/>
                </a:solidFill>
                <a:latin typeface="Inter"/>
              </a:defRPr>
            </a:pPr>
            <a:r>
              <a:t>TAMOIOS TECNOLOGIA  /  CAPAS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AF9F4"/>
                </a:solidFill>
                <a:latin typeface="Inter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-mataatlantica.jpg"/>
          <p:cNvPicPr>
            <a:picLocks noChangeAspect="1"/>
          </p:cNvPicPr>
          <p:nvPr/>
        </p:nvPicPr>
        <p:blipFill>
          <a:blip r:embed="rId2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1250"/>
            <a:ext cx="12192000" cy="3206750"/>
          </a:xfrm>
          <a:prstGeom prst="rect">
            <a:avLst/>
          </a:prstGeom>
          <a:solidFill>
            <a:srgbClr val="0A29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tamoios-logo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457200"/>
            <a:ext cx="11430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5000" y="4064000"/>
            <a:ext cx="10414000" cy="1079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600" b="0">
                <a:solidFill>
                  <a:srgbClr val="FAF9F4"/>
                </a:solidFill>
                <a:latin typeface="Fraunces"/>
              </a:defRPr>
            </a:pPr>
            <a:r>
              <a:t>Da fibra ao futuro.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5448300"/>
            <a:ext cx="10414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AF9F4"/>
                </a:solidFill>
                <a:latin typeface="Inter"/>
              </a:defRPr>
            </a:pPr>
            <a:r>
              <a:t>[Tema da apresentação]  /  [Data]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AF9F4"/>
                </a:solidFill>
                <a:latin typeface="Inter"/>
              </a:defRPr>
            </a:pPr>
            <a:r>
              <a:t>TAMOIOS TECNOLOGIA  /  CAPAS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AF9F4"/>
                </a:solidFill>
                <a:latin typeface="Inter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74000" y="1460500"/>
            <a:ext cx="3492500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500" b="0">
                <a:solidFill>
                  <a:srgbClr val="639735"/>
                </a:solidFill>
                <a:latin typeface="Fraunces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3937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3A216"/>
                </a:solidFill>
                <a:latin typeface="Inter"/>
              </a:defRPr>
            </a:pPr>
            <a:r>
              <a:t>[NOME DA SEÇÃO]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857250"/>
            <a:ext cx="10414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rgbClr val="FAF9F4"/>
                </a:solidFill>
                <a:latin typeface="Fraunces"/>
              </a:defRPr>
            </a:pPr>
            <a:r>
              <a:t>[Uma nova perspectiva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rgbClr val="FAF9F4"/>
                </a:solidFill>
                <a:latin typeface="Fraunces"/>
              </a:defRPr>
            </a:pPr>
            <a:r>
              <a:t>para o seu negócio.]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4190999"/>
            <a:ext cx="68580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AF9F4"/>
                </a:solidFill>
                <a:latin typeface="Inter"/>
              </a:defRPr>
            </a:pPr>
            <a:r>
              <a:t>[Uma frase curta para introduzir o próximo assunto.]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AF9F4"/>
                </a:solidFill>
                <a:latin typeface="Inter"/>
              </a:defRPr>
            </a:pPr>
            <a:r>
              <a:t>TAMOIOS TECNOLOGIA  /  ESTRUTURA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AF9F4"/>
                </a:solidFill>
                <a:latin typeface="Inter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9735"/>
                </a:solidFill>
                <a:latin typeface="Inter"/>
              </a:defRPr>
            </a:pPr>
            <a:r>
              <a:t>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857250"/>
            <a:ext cx="10414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rgbClr val="144330"/>
                </a:solidFill>
                <a:latin typeface="Fraunces"/>
              </a:defRPr>
            </a:pPr>
            <a:r>
              <a:t>[O que vamos conversar.]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2317750"/>
            <a:ext cx="825500" cy="539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639735"/>
                </a:solidFill>
                <a:latin typeface="Fraunce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8000" y="2317750"/>
            <a:ext cx="3937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44330"/>
                </a:solidFill>
                <a:latin typeface="Fraunces"/>
              </a:defRPr>
            </a:pPr>
            <a:r>
              <a:t>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23000" y="2368550"/>
            <a:ext cx="5016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86157"/>
                </a:solidFill>
                <a:latin typeface="Inter"/>
              </a:defRPr>
            </a:pPr>
            <a:r>
              <a:t>[Desafio e oportunidade]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3206750"/>
            <a:ext cx="825500" cy="539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639735"/>
                </a:solidFill>
                <a:latin typeface="Fraunce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8000" y="3206750"/>
            <a:ext cx="3937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44330"/>
                </a:solidFill>
                <a:latin typeface="Fraunces"/>
              </a:defRPr>
            </a:pPr>
            <a:r>
              <a:t>Soluções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3000" y="3257550"/>
            <a:ext cx="5016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86157"/>
                </a:solidFill>
                <a:latin typeface="Inter"/>
              </a:defRPr>
            </a:pPr>
            <a:r>
              <a:t>[Produtos e aplicações]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4095750"/>
            <a:ext cx="825500" cy="539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639735"/>
                </a:solidFill>
                <a:latin typeface="Fraunces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8000" y="4095750"/>
            <a:ext cx="3937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44330"/>
                </a:solidFill>
                <a:latin typeface="Fraunces"/>
              </a:defRPr>
            </a:pPr>
            <a:r>
              <a:t>Resultados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0" y="4146550"/>
            <a:ext cx="5016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86157"/>
                </a:solidFill>
                <a:latin typeface="Inter"/>
              </a:defRPr>
            </a:pPr>
            <a:r>
              <a:t>[Indicadores e evidências]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4984750"/>
            <a:ext cx="825500" cy="539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639735"/>
                </a:solidFill>
                <a:latin typeface="Fraunces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8000" y="4984750"/>
            <a:ext cx="3937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44330"/>
                </a:solidFill>
                <a:latin typeface="Fraunces"/>
              </a:defRPr>
            </a:pPr>
            <a:r>
              <a:t>Próximos passos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000" y="5035550"/>
            <a:ext cx="5016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86157"/>
                </a:solidFill>
                <a:latin typeface="Inter"/>
              </a:defRPr>
            </a:pPr>
            <a:r>
              <a:t>[Plano e proposta]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86157"/>
                </a:solidFill>
                <a:latin typeface="Inter"/>
              </a:defRPr>
            </a:pPr>
            <a:r>
              <a:t>TAMOIOS TECNOLOGIA  /  ESTRUTURA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86157"/>
                </a:solidFill>
                <a:latin typeface="Inter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9735"/>
                </a:solidFill>
                <a:latin typeface="Inter"/>
              </a:defRPr>
            </a:pPr>
            <a:r>
              <a:t>QUEM SOMOS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857250"/>
            <a:ext cx="10414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rgbClr val="144330"/>
                </a:solidFill>
                <a:latin typeface="Fraunces"/>
              </a:defRPr>
            </a:pPr>
            <a:r>
              <a:t>Tecnologia que nasce da fibra.</a:t>
            </a:r>
          </a:p>
        </p:txBody>
      </p:sp>
      <p:pic>
        <p:nvPicPr>
          <p:cNvPr id="4" name="Picture 3" descr="jornada-maos.jpg"/>
          <p:cNvPicPr>
            <a:picLocks noChangeAspect="1"/>
          </p:cNvPicPr>
          <p:nvPr/>
        </p:nvPicPr>
        <p:blipFill>
          <a:blip r:embed="rId2"/>
          <a:srcRect t="13462" b="13462"/>
          <a:stretch>
            <a:fillRect/>
          </a:stretch>
        </p:blipFill>
        <p:spPr>
          <a:xfrm>
            <a:off x="6604000" y="2222500"/>
            <a:ext cx="495300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5000" y="2349500"/>
            <a:ext cx="5270500" cy="1492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44330"/>
                </a:solidFill>
                <a:latin typeface="Inter"/>
              </a:defRPr>
            </a:pPr>
            <a:r>
              <a:t>[Apresente a empresa em um parágrafo curto, com propósito, atuação e diferencial.]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4127500"/>
            <a:ext cx="52705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86157"/>
                </a:solidFill>
                <a:latin typeface="Inter"/>
              </a:defRPr>
            </a:pPr>
            <a:r>
              <a:t>[Origem e trajetória]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86157"/>
                </a:solidFill>
                <a:latin typeface="Inter"/>
              </a:defRPr>
            </a:pP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86157"/>
                </a:solidFill>
                <a:latin typeface="Inter"/>
              </a:defRPr>
            </a:pPr>
            <a:r>
              <a:t>[Competência técnica]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86157"/>
                </a:solidFill>
                <a:latin typeface="Inter"/>
              </a:defRPr>
            </a:pP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86157"/>
                </a:solidFill>
                <a:latin typeface="Inter"/>
              </a:defRPr>
            </a:pPr>
            <a:r>
              <a:t>[Presença e atuação]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86157"/>
                </a:solidFill>
                <a:latin typeface="Inter"/>
              </a:defRPr>
            </a:pPr>
            <a:r>
              <a:t>TAMOIOS TECNOLOGIA  /  INSTITUCIONAL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86157"/>
                </a:solidFill>
                <a:latin typeface="Inter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9735"/>
                </a:solidFill>
                <a:latin typeface="Inter"/>
              </a:defRPr>
            </a:pPr>
            <a:r>
              <a:t>SOLUÇÕES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857250"/>
            <a:ext cx="10414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44330"/>
                </a:solidFill>
                <a:latin typeface="Fraunces"/>
              </a:defRPr>
            </a:pPr>
            <a:r>
              <a:t>Uma matéria-prima. Muitas possibilidades.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2222500"/>
            <a:ext cx="3492500" cy="2444750"/>
          </a:xfrm>
          <a:prstGeom prst="rect">
            <a:avLst/>
          </a:prstGeom>
          <a:solidFill>
            <a:srgbClr val="F5F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bandeja-tom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586" y="2349500"/>
            <a:ext cx="1399327" cy="2190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000" y="4921250"/>
            <a:ext cx="3492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44330"/>
                </a:solidFill>
                <a:latin typeface="Fraunces"/>
              </a:defRPr>
            </a:pPr>
            <a:r>
              <a:t>Bandejas FLV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5492750"/>
            <a:ext cx="3492500" cy="412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86157"/>
                </a:solidFill>
                <a:latin typeface="Inter"/>
              </a:defRPr>
            </a:pPr>
            <a:r>
              <a:t>[Aplicação e diferencial]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0" y="2222500"/>
            <a:ext cx="3492500" cy="2444750"/>
          </a:xfrm>
          <a:prstGeom prst="rect">
            <a:avLst/>
          </a:prstGeom>
          <a:solidFill>
            <a:srgbClr val="F5F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calcos-garraf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229" y="2349500"/>
            <a:ext cx="2934040" cy="2190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18000" y="4921250"/>
            <a:ext cx="3492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44330"/>
                </a:solidFill>
                <a:latin typeface="Fraunces"/>
              </a:defRPr>
            </a:pPr>
            <a:r>
              <a:t>Calços técnicos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0" y="5492750"/>
            <a:ext cx="3492500" cy="412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86157"/>
                </a:solidFill>
                <a:latin typeface="Inter"/>
              </a:defRPr>
            </a:pPr>
            <a:r>
              <a:t>[Aplicação e diferencial]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222500"/>
            <a:ext cx="3492500" cy="2444750"/>
          </a:xfrm>
          <a:prstGeom prst="rect">
            <a:avLst/>
          </a:prstGeom>
          <a:solidFill>
            <a:srgbClr val="F5F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tubetes-muda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2658020"/>
            <a:ext cx="3238500" cy="15737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01000" y="4921250"/>
            <a:ext cx="3492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44330"/>
                </a:solidFill>
                <a:latin typeface="Fraunces"/>
              </a:defRPr>
            </a:pPr>
            <a:r>
              <a:t>Agro-florestal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5492750"/>
            <a:ext cx="3492500" cy="412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86157"/>
                </a:solidFill>
                <a:latin typeface="Inter"/>
              </a:defRPr>
            </a:pPr>
            <a:r>
              <a:t>[Aplicação e diferencial]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86157"/>
                </a:solidFill>
                <a:latin typeface="Inter"/>
              </a:defRPr>
            </a:pPr>
            <a:r>
              <a:t>TAMOIOS TECNOLOGIA  /  PRODUTOS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86157"/>
                </a:solidFill>
                <a:latin typeface="Inter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9735"/>
                </a:solidFill>
                <a:latin typeface="Inter"/>
              </a:defRPr>
            </a:pPr>
            <a:r>
              <a:t>[LINHA DE PRODUTO]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857250"/>
            <a:ext cx="10414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rgbClr val="144330"/>
                </a:solidFill>
                <a:latin typeface="Fraunces"/>
              </a:defRPr>
            </a:pPr>
            <a:r>
              <a:t>[Nome da solução.]</a:t>
            </a:r>
          </a:p>
        </p:txBody>
      </p:sp>
      <p:sp>
        <p:nvSpPr>
          <p:cNvPr id="4" name="Rectangle 3"/>
          <p:cNvSpPr/>
          <p:nvPr/>
        </p:nvSpPr>
        <p:spPr>
          <a:xfrm>
            <a:off x="6159500" y="2222500"/>
            <a:ext cx="5397500" cy="3683000"/>
          </a:xfrm>
          <a:prstGeom prst="rect">
            <a:avLst/>
          </a:prstGeom>
          <a:solidFill>
            <a:srgbClr val="F5F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bandeja-tom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124" y="2349500"/>
            <a:ext cx="2190251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000" y="2381250"/>
            <a:ext cx="4953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144330"/>
                </a:solidFill>
                <a:latin typeface="Fraunces"/>
              </a:defRPr>
            </a:pPr>
            <a:r>
              <a:t>[Um benefício central, direto e validado.]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3841750"/>
            <a:ext cx="48895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86157"/>
                </a:solidFill>
                <a:latin typeface="Inter"/>
              </a:defRPr>
            </a:pPr>
            <a:r>
              <a:t>[Descrição da aplicação e contexto de uso.]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86157"/>
                </a:solidFill>
                <a:latin typeface="Inter"/>
              </a:defRPr>
            </a:pP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86157"/>
                </a:solidFill>
                <a:latin typeface="Inter"/>
              </a:defRPr>
            </a:pPr>
            <a:r>
              <a:t>[Característica técnica]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86157"/>
                </a:solidFill>
                <a:latin typeface="Inter"/>
              </a:defRPr>
            </a:pP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86157"/>
                </a:solidFill>
                <a:latin typeface="Inter"/>
              </a:defRPr>
            </a:pPr>
            <a:r>
              <a:t>[Opções de personalização]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86157"/>
                </a:solidFill>
                <a:latin typeface="Inter"/>
              </a:defRPr>
            </a:pPr>
            <a:r>
              <a:t>TAMOIOS TECNOLOGIA  /  IMAGENS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86157"/>
                </a:solidFill>
                <a:latin typeface="Inter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9735"/>
                </a:solidFill>
                <a:latin typeface="Inter"/>
              </a:defRPr>
            </a:pPr>
            <a:r>
              <a:t>[LINHA DE PRODUTO]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857250"/>
            <a:ext cx="10414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rgbClr val="144330"/>
                </a:solidFill>
                <a:latin typeface="Fraunces"/>
              </a:defRPr>
            </a:pPr>
            <a:r>
              <a:t>[Nome da solução.]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2222500"/>
            <a:ext cx="5397500" cy="3683000"/>
          </a:xfrm>
          <a:prstGeom prst="rect">
            <a:avLst/>
          </a:prstGeom>
          <a:solidFill>
            <a:srgbClr val="F5F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bandeja-tom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624" y="2349500"/>
            <a:ext cx="2190251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04000" y="2381250"/>
            <a:ext cx="4953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144330"/>
                </a:solidFill>
                <a:latin typeface="Fraunces"/>
              </a:defRPr>
            </a:pPr>
            <a:r>
              <a:t>[Um benefício central, direto e validado.]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0" y="3841750"/>
            <a:ext cx="48895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86157"/>
                </a:solidFill>
                <a:latin typeface="Inter"/>
              </a:defRPr>
            </a:pPr>
            <a:r>
              <a:t>[Descrição da aplicação e contexto de uso.]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86157"/>
                </a:solidFill>
                <a:latin typeface="Inter"/>
              </a:defRPr>
            </a:pP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86157"/>
                </a:solidFill>
                <a:latin typeface="Inter"/>
              </a:defRPr>
            </a:pPr>
            <a:r>
              <a:t>[Característica técnica]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86157"/>
                </a:solidFill>
                <a:latin typeface="Inter"/>
              </a:defRPr>
            </a:pP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86157"/>
                </a:solidFill>
                <a:latin typeface="Inter"/>
              </a:defRPr>
            </a:pPr>
            <a:r>
              <a:t>[Opções de personalização]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86157"/>
                </a:solidFill>
                <a:latin typeface="Inter"/>
              </a:defRPr>
            </a:pPr>
            <a:r>
              <a:t>TAMOIOS TECNOLOGIA  /  IMAGENS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86157"/>
                </a:solidFill>
                <a:latin typeface="Inter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9735"/>
                </a:solidFill>
                <a:latin typeface="Inter"/>
              </a:defRPr>
            </a:pPr>
            <a:r>
              <a:t>[APLICAÇÃO REAL]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857250"/>
            <a:ext cx="10414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rgbClr val="144330"/>
                </a:solidFill>
                <a:latin typeface="Fraunces"/>
              </a:defRPr>
            </a:pPr>
            <a:r>
              <a:t>[O produto em contexto.]</a:t>
            </a:r>
          </a:p>
        </p:txBody>
      </p:sp>
      <p:pic>
        <p:nvPicPr>
          <p:cNvPr id="4" name="Picture 3" descr="varejo-bandejas-gondola.jpg"/>
          <p:cNvPicPr>
            <a:picLocks noChangeAspect="1"/>
          </p:cNvPicPr>
          <p:nvPr/>
        </p:nvPicPr>
        <p:blipFill>
          <a:blip r:embed="rId2"/>
          <a:srcRect t="33759" b="33759"/>
          <a:stretch>
            <a:fillRect/>
          </a:stretch>
        </p:blipFill>
        <p:spPr>
          <a:xfrm>
            <a:off x="635000" y="2159000"/>
            <a:ext cx="10922000" cy="3333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5000" y="5778500"/>
            <a:ext cx="10414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86157"/>
                </a:solidFill>
                <a:latin typeface="Inter"/>
              </a:defRPr>
            </a:pPr>
            <a:r>
              <a:t>[Legenda da foto · local · data · crédito]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86157"/>
                </a:solidFill>
                <a:latin typeface="Inter"/>
              </a:defRPr>
            </a:pPr>
            <a:r>
              <a:t>TAMOIOS TECNOLOGIA  /  IMAGENS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86157"/>
                </a:solidFill>
                <a:latin typeface="Inter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9735"/>
                </a:solidFill>
                <a:latin typeface="Inter"/>
              </a:defRPr>
            </a:pPr>
            <a:r>
              <a:t>COMPARAÇÃO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857250"/>
            <a:ext cx="10414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rgbClr val="144330"/>
                </a:solidFill>
                <a:latin typeface="Fraunces"/>
              </a:defRPr>
            </a:pPr>
            <a:r>
              <a:t>[Do desafio à solução.]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2222500"/>
            <a:ext cx="5270500" cy="2984500"/>
          </a:xfrm>
          <a:prstGeom prst="rect">
            <a:avLst/>
          </a:prstGeom>
          <a:solidFill>
            <a:srgbClr val="F5F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embalagem-vinh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339" y="2317750"/>
            <a:ext cx="2059820" cy="279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000" y="5429250"/>
            <a:ext cx="5270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44330"/>
                </a:solidFill>
                <a:latin typeface="Fraunces"/>
              </a:defRPr>
            </a:pPr>
            <a:r>
              <a:t>[Situação inicial]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6500" y="2222500"/>
            <a:ext cx="5270500" cy="2984500"/>
          </a:xfrm>
          <a:prstGeom prst="rect">
            <a:avLst/>
          </a:prstGeom>
          <a:solidFill>
            <a:srgbClr val="F5F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embalagem-vinho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839" y="2317750"/>
            <a:ext cx="2059820" cy="279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86500" y="5429250"/>
            <a:ext cx="5270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44330"/>
                </a:solidFill>
                <a:latin typeface="Fraunces"/>
              </a:defRPr>
            </a:pPr>
            <a:r>
              <a:t>[Solução proposta]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86157"/>
                </a:solidFill>
                <a:latin typeface="Inter"/>
              </a:defRPr>
            </a:pPr>
            <a:r>
              <a:t>TAMOIOS TECNOLOGIA  /  IMAGENS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86157"/>
                </a:solidFill>
                <a:latin typeface="Inte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9735"/>
                </a:solidFill>
                <a:latin typeface="Inter"/>
              </a:defRPr>
            </a:pPr>
            <a:r>
              <a:t>GALERIA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857250"/>
            <a:ext cx="10414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rgbClr val="144330"/>
                </a:solidFill>
                <a:latin typeface="Fraunces"/>
              </a:defRPr>
            </a:pPr>
            <a:r>
              <a:t>[A mesma tecnologia, novos usos.]</a:t>
            </a:r>
          </a:p>
        </p:txBody>
      </p:sp>
      <p:pic>
        <p:nvPicPr>
          <p:cNvPr id="4" name="Picture 3" descr="bandeja-tom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253" y="2159000"/>
            <a:ext cx="2352492" cy="3683000"/>
          </a:xfrm>
          <a:prstGeom prst="rect">
            <a:avLst/>
          </a:prstGeom>
        </p:spPr>
      </p:pic>
      <p:pic>
        <p:nvPicPr>
          <p:cNvPr id="5" name="Picture 4" descr="calcos-garraf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897" y="2159000"/>
            <a:ext cx="2296205" cy="1714500"/>
          </a:xfrm>
          <a:prstGeom prst="rect">
            <a:avLst/>
          </a:prstGeom>
        </p:spPr>
      </p:pic>
      <p:pic>
        <p:nvPicPr>
          <p:cNvPr id="6" name="Picture 5" descr="tubetes-muda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0" y="2368252"/>
            <a:ext cx="2667000" cy="1295995"/>
          </a:xfrm>
          <a:prstGeom prst="rect">
            <a:avLst/>
          </a:prstGeom>
        </p:spPr>
      </p:pic>
      <p:pic>
        <p:nvPicPr>
          <p:cNvPr id="7" name="Picture 6" descr="industria-calcos.jpg"/>
          <p:cNvPicPr>
            <a:picLocks noChangeAspect="1"/>
          </p:cNvPicPr>
          <p:nvPr/>
        </p:nvPicPr>
        <p:blipFill>
          <a:blip r:embed="rId5"/>
          <a:srcRect t="34302" b="34302"/>
          <a:stretch>
            <a:fillRect/>
          </a:stretch>
        </p:blipFill>
        <p:spPr>
          <a:xfrm>
            <a:off x="6096000" y="4127500"/>
            <a:ext cx="5461000" cy="1714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86157"/>
                </a:solidFill>
                <a:latin typeface="Inter"/>
              </a:defRPr>
            </a:pPr>
            <a:r>
              <a:t>TAMOIOS TECNOLOGIA  /  IMAGENS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86157"/>
                </a:solidFill>
                <a:latin typeface="Inter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9735"/>
                </a:solidFill>
                <a:latin typeface="Inter"/>
              </a:defRPr>
            </a:pPr>
            <a:r>
              <a:t>[PRODUTO EM FOCO]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857250"/>
            <a:ext cx="10414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rgbClr val="144330"/>
                </a:solidFill>
                <a:latin typeface="Fraunces"/>
              </a:defRPr>
            </a:pPr>
            <a:r>
              <a:t>[Os detalhes fazem a diferença.]</a:t>
            </a:r>
          </a:p>
        </p:txBody>
      </p:sp>
      <p:pic>
        <p:nvPicPr>
          <p:cNvPr id="4" name="Picture 3" descr="tubetes-mudas.jpg"/>
          <p:cNvPicPr>
            <a:picLocks noChangeAspect="1"/>
          </p:cNvPicPr>
          <p:nvPr/>
        </p:nvPicPr>
        <p:blipFill>
          <a:blip r:embed="rId2"/>
          <a:srcRect l="21514" r="21514"/>
          <a:stretch>
            <a:fillRect/>
          </a:stretch>
        </p:blipFill>
        <p:spPr>
          <a:xfrm>
            <a:off x="635000" y="2159000"/>
            <a:ext cx="4318000" cy="3683000"/>
          </a:xfrm>
          <a:prstGeom prst="rect">
            <a:avLst/>
          </a:prstGeom>
        </p:spPr>
      </p:pic>
      <p:pic>
        <p:nvPicPr>
          <p:cNvPr id="5" name="Picture 4" descr="tubetes-bandej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0" y="2406922"/>
            <a:ext cx="2603500" cy="20441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1999" y="2444750"/>
            <a:ext cx="3175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44330"/>
                </a:solidFill>
                <a:latin typeface="Fraunces"/>
              </a:defRPr>
            </a:pPr>
            <a:r>
              <a:t>[Detalhe técnico]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1999" y="3492500"/>
            <a:ext cx="3175000" cy="139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86157"/>
                </a:solidFill>
                <a:latin typeface="Inter"/>
              </a:defRPr>
            </a:pPr>
            <a:r>
              <a:t>[Explique o encaixe, a textura ou a funcionalidade do produto.]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7500" y="5270500"/>
            <a:ext cx="584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39735"/>
                </a:solidFill>
                <a:latin typeface="Inter"/>
              </a:defRPr>
            </a:pPr>
            <a:r>
              <a:t>[Especificação validada · unidade · tolerância]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86157"/>
                </a:solidFill>
                <a:latin typeface="Inter"/>
              </a:defRPr>
            </a:pPr>
            <a:r>
              <a:t>TAMOIOS TECNOLOGIA  /  IMAGENS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86157"/>
                </a:solidFill>
                <a:latin typeface="Inter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9735"/>
                </a:solidFill>
                <a:latin typeface="Inter"/>
              </a:defRPr>
            </a:pPr>
            <a:r>
              <a:t>[PERÍODO DE REFERÊNCIA]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857250"/>
            <a:ext cx="10414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rgbClr val="144330"/>
                </a:solidFill>
                <a:latin typeface="Fraunces"/>
              </a:defRPr>
            </a:pPr>
            <a:r>
              <a:t>[Impacto em números.]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2413000"/>
            <a:ext cx="3492500" cy="3048000"/>
          </a:xfrm>
          <a:prstGeom prst="rect">
            <a:avLst/>
          </a:prstGeom>
          <a:solidFill>
            <a:srgbClr val="F5F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2730500"/>
            <a:ext cx="3048000" cy="1079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700" b="0">
                <a:solidFill>
                  <a:srgbClr val="144330"/>
                </a:solidFill>
                <a:latin typeface="Fraunces"/>
              </a:defRPr>
            </a:pPr>
            <a:r>
              <a:t>[Valor]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4127500"/>
            <a:ext cx="2984500" cy="539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4330"/>
                </a:solidFill>
                <a:latin typeface="Inter"/>
              </a:defRPr>
            </a:pPr>
            <a:r>
              <a:t>[Nome do indicador]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600" y="4921250"/>
            <a:ext cx="2984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86157"/>
                </a:solidFill>
                <a:latin typeface="Inter"/>
              </a:defRPr>
            </a:pPr>
            <a:r>
              <a:t>[Contexto e unidade]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9750" y="2413000"/>
            <a:ext cx="3492500" cy="3048000"/>
          </a:xfrm>
          <a:prstGeom prst="rect">
            <a:avLst/>
          </a:prstGeom>
          <a:solidFill>
            <a:srgbClr val="F5F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8350" y="2730500"/>
            <a:ext cx="3048000" cy="1079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700" b="0">
                <a:solidFill>
                  <a:srgbClr val="144330"/>
                </a:solidFill>
                <a:latin typeface="Fraunces"/>
              </a:defRPr>
            </a:pPr>
            <a:r>
              <a:t>[Valor]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8350" y="4127500"/>
            <a:ext cx="2984500" cy="539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4330"/>
                </a:solidFill>
                <a:latin typeface="Inter"/>
              </a:defRPr>
            </a:pPr>
            <a:r>
              <a:t>[Nome do indicador]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8350" y="4921250"/>
            <a:ext cx="2984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86157"/>
                </a:solidFill>
                <a:latin typeface="Inter"/>
              </a:defRPr>
            </a:pPr>
            <a:r>
              <a:t>[Contexto e unidade]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4500" y="2413000"/>
            <a:ext cx="3492500" cy="3048000"/>
          </a:xfrm>
          <a:prstGeom prst="rect">
            <a:avLst/>
          </a:prstGeom>
          <a:solidFill>
            <a:srgbClr val="F5F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100" y="2730500"/>
            <a:ext cx="3048000" cy="1079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700" b="0">
                <a:solidFill>
                  <a:srgbClr val="144330"/>
                </a:solidFill>
                <a:latin typeface="Fraunces"/>
              </a:defRPr>
            </a:pPr>
            <a:r>
              <a:t>[Valor]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100" y="4127500"/>
            <a:ext cx="2984500" cy="539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4330"/>
                </a:solidFill>
                <a:latin typeface="Inter"/>
              </a:defRPr>
            </a:pPr>
            <a:r>
              <a:t>[Nome do indicador]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100" y="4921250"/>
            <a:ext cx="2984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86157"/>
                </a:solidFill>
                <a:latin typeface="Inter"/>
              </a:defRPr>
            </a:pPr>
            <a:r>
              <a:t>[Contexto e unidade]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5778500"/>
            <a:ext cx="9525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86157"/>
                </a:solidFill>
                <a:latin typeface="Inter"/>
              </a:defRPr>
            </a:pPr>
            <a:r>
              <a:t>Fonte: [origem dos dados]  ·  Período: [mês / ano]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86157"/>
                </a:solidFill>
                <a:latin typeface="Inter"/>
              </a:defRPr>
            </a:pPr>
            <a:r>
              <a:t>TAMOIOS TECNOLOGIA  /  DADOS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86157"/>
                </a:solidFill>
                <a:latin typeface="Inter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9735"/>
                </a:solidFill>
                <a:latin typeface="Inter"/>
              </a:defRPr>
            </a:pPr>
            <a:r>
              <a:t>COMPARATIVO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857250"/>
            <a:ext cx="10414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rgbClr val="144330"/>
                </a:solidFill>
                <a:latin typeface="Fraunces"/>
              </a:defRPr>
            </a:pPr>
            <a:r>
              <a:t>[Comparação entre cenários.]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2476500"/>
            <a:ext cx="2667000" cy="34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4330"/>
                </a:solidFill>
                <a:latin typeface="Inter"/>
              </a:defRPr>
            </a:pPr>
            <a:r>
              <a:t>[Categoria 1]</a:t>
            </a:r>
          </a:p>
        </p:txBody>
      </p:sp>
      <p:sp>
        <p:nvSpPr>
          <p:cNvPr id="5" name="Rectangle 4"/>
          <p:cNvSpPr/>
          <p:nvPr/>
        </p:nvSpPr>
        <p:spPr>
          <a:xfrm>
            <a:off x="3492500" y="2413000"/>
            <a:ext cx="5778500" cy="406400"/>
          </a:xfrm>
          <a:prstGeom prst="rect">
            <a:avLst/>
          </a:prstGeom>
          <a:solidFill>
            <a:srgbClr val="F5F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0" y="2451100"/>
            <a:ext cx="1841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39735"/>
                </a:solidFill>
                <a:latin typeface="Inter"/>
              </a:defRPr>
            </a:pPr>
            <a:r>
              <a:t>[Valor]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3302000"/>
            <a:ext cx="2667000" cy="34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4330"/>
                </a:solidFill>
                <a:latin typeface="Inter"/>
              </a:defRPr>
            </a:pPr>
            <a:r>
              <a:t>[Categoria 2]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2500" y="3238500"/>
            <a:ext cx="5778500" cy="406400"/>
          </a:xfrm>
          <a:prstGeom prst="rect">
            <a:avLst/>
          </a:prstGeom>
          <a:solidFill>
            <a:srgbClr val="F5F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0" y="3276600"/>
            <a:ext cx="1841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39735"/>
                </a:solidFill>
                <a:latin typeface="Inter"/>
              </a:defRPr>
            </a:pPr>
            <a:r>
              <a:t>[Valor]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4127500"/>
            <a:ext cx="2667000" cy="34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4330"/>
                </a:solidFill>
                <a:latin typeface="Inter"/>
              </a:defRPr>
            </a:pPr>
            <a:r>
              <a:t>[Categoria 3]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92500" y="4064000"/>
            <a:ext cx="5778500" cy="406400"/>
          </a:xfrm>
          <a:prstGeom prst="rect">
            <a:avLst/>
          </a:prstGeom>
          <a:solidFill>
            <a:srgbClr val="F5F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5000" y="4102099"/>
            <a:ext cx="1841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39735"/>
                </a:solidFill>
                <a:latin typeface="Inter"/>
              </a:defRPr>
            </a:pPr>
            <a:r>
              <a:t>[Valor]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4953000"/>
            <a:ext cx="2667000" cy="34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4330"/>
                </a:solidFill>
                <a:latin typeface="Inter"/>
              </a:defRPr>
            </a:pPr>
            <a:r>
              <a:t>[Categoria 4]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2500" y="4889500"/>
            <a:ext cx="5778500" cy="406400"/>
          </a:xfrm>
          <a:prstGeom prst="rect">
            <a:avLst/>
          </a:prstGeom>
          <a:solidFill>
            <a:srgbClr val="F5F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5000" y="4927600"/>
            <a:ext cx="1841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39735"/>
                </a:solidFill>
                <a:latin typeface="Inter"/>
              </a:defRPr>
            </a:pPr>
            <a:r>
              <a:t>[Valor]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2500" y="5842000"/>
            <a:ext cx="730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86157"/>
                </a:solidFill>
                <a:latin typeface="Inter"/>
              </a:defRPr>
            </a:pPr>
            <a:r>
              <a:t>[Insira as barras proporcionais aos valores reais.]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86157"/>
                </a:solidFill>
                <a:latin typeface="Inter"/>
              </a:defRPr>
            </a:pPr>
            <a:r>
              <a:t>TAMOIOS TECNOLOGIA  /  DADOS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86157"/>
                </a:solidFill>
                <a:latin typeface="Inter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9735"/>
                </a:solidFill>
                <a:latin typeface="Inter"/>
              </a:defRPr>
            </a:pPr>
            <a:r>
              <a:t>EVOLUÇÃO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857250"/>
            <a:ext cx="10414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rgbClr val="144330"/>
                </a:solidFill>
                <a:latin typeface="Fraunces"/>
              </a:defRPr>
            </a:pPr>
            <a:r>
              <a:t>[Como o indicador evolui.]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2159000"/>
            <a:ext cx="7556500" cy="3556000"/>
          </a:xfrm>
          <a:prstGeom prst="rect">
            <a:avLst/>
          </a:prstGeom>
          <a:solidFill>
            <a:srgbClr val="F5F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9000" y="5048250"/>
            <a:ext cx="1651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86157"/>
                </a:solidFill>
                <a:latin typeface="Inter"/>
              </a:defRPr>
            </a:pPr>
            <a:r>
              <a:t>[Período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30500" y="5048250"/>
            <a:ext cx="1651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86157"/>
                </a:solidFill>
                <a:latin typeface="Inter"/>
              </a:defRPr>
            </a:pPr>
            <a:r>
              <a:t>[Período 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048250"/>
            <a:ext cx="1651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86157"/>
                </a:solidFill>
                <a:latin typeface="Inter"/>
              </a:defRPr>
            </a:pPr>
            <a:r>
              <a:t>[Período 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3500" y="5048250"/>
            <a:ext cx="1651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86157"/>
                </a:solidFill>
                <a:latin typeface="Inter"/>
              </a:defRPr>
            </a:pPr>
            <a:r>
              <a:t>[Período 4]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81250"/>
            <a:ext cx="6350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44330"/>
                </a:solidFill>
                <a:latin typeface="Fraunces"/>
              </a:defRPr>
            </a:pPr>
            <a:r>
              <a:t>[Insira a série validada neste espaço.]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99500" y="2476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144330"/>
                </a:solidFill>
                <a:latin typeface="Fraunces"/>
              </a:defRPr>
            </a:pPr>
            <a:r>
              <a:t>[Leitura principal]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9500" y="37465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86157"/>
                </a:solidFill>
                <a:latin typeface="Inter"/>
              </a:defRPr>
            </a:pPr>
            <a:r>
              <a:t>[Explique a tendência, sem extrapolar os dados.]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7375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86157"/>
                </a:solidFill>
                <a:latin typeface="Inter"/>
              </a:defRPr>
            </a:pPr>
            <a:r>
              <a:t>Fonte: [origem]  ·  Unidade: [unidade]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86157"/>
                </a:solidFill>
                <a:latin typeface="Inter"/>
              </a:defRPr>
            </a:pPr>
            <a:r>
              <a:t>TAMOIOS TECNOLOGIA  /  DADOS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86157"/>
                </a:solidFill>
                <a:latin typeface="Inter"/>
              </a:defRPr>
            </a:pPr>
            <a:r>
              <a:t>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8250" y="3206750"/>
            <a:ext cx="12700" cy="1492250"/>
          </a:xfrm>
          <a:prstGeom prst="rect">
            <a:avLst/>
          </a:prstGeom>
          <a:solidFill>
            <a:srgbClr val="D3D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750" y="3810000"/>
            <a:ext cx="1651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39735"/>
                </a:solidFill>
                <a:latin typeface="Inter"/>
              </a:defRPr>
            </a:pPr>
            <a:r>
              <a:t>[Valor]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8000" y="3206750"/>
            <a:ext cx="12700" cy="1492250"/>
          </a:xfrm>
          <a:prstGeom prst="rect">
            <a:avLst/>
          </a:prstGeom>
          <a:solidFill>
            <a:srgbClr val="D3D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30500" y="3810000"/>
            <a:ext cx="1651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39735"/>
                </a:solidFill>
                <a:latin typeface="Inter"/>
              </a:defRPr>
            </a:pPr>
            <a:r>
              <a:t>[Valor]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57750" y="3206750"/>
            <a:ext cx="12700" cy="1492250"/>
          </a:xfrm>
          <a:prstGeom prst="rect">
            <a:avLst/>
          </a:prstGeom>
          <a:solidFill>
            <a:srgbClr val="D3D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0250" y="3810000"/>
            <a:ext cx="1651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39735"/>
                </a:solidFill>
                <a:latin typeface="Inter"/>
              </a:defRPr>
            </a:pPr>
            <a:r>
              <a:t>[Valor]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67500" y="3206750"/>
            <a:ext cx="12700" cy="1492250"/>
          </a:xfrm>
          <a:prstGeom prst="rect">
            <a:avLst/>
          </a:prstGeom>
          <a:solidFill>
            <a:srgbClr val="D3D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0" y="3810000"/>
            <a:ext cx="1651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39735"/>
                </a:solidFill>
                <a:latin typeface="Inter"/>
              </a:defRPr>
            </a:pPr>
            <a:r>
              <a:t>[Valor]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9735"/>
                </a:solidFill>
                <a:latin typeface="Inter"/>
              </a:defRPr>
            </a:pPr>
            <a:r>
              <a:t>DISTRIBUIÇÃO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857250"/>
            <a:ext cx="10414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rgbClr val="144330"/>
                </a:solidFill>
                <a:latin typeface="Fraunces"/>
              </a:defRPr>
            </a:pPr>
            <a:r>
              <a:t>[O que compõe o resultado.]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2413000"/>
            <a:ext cx="152400" cy="698500"/>
          </a:xfrm>
          <a:prstGeom prst="rect">
            <a:avLst/>
          </a:prstGeom>
          <a:solidFill>
            <a:srgbClr val="1443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9500" y="2444750"/>
            <a:ext cx="5334000" cy="412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44330"/>
                </a:solidFill>
                <a:latin typeface="Inter"/>
              </a:defRPr>
            </a:pPr>
            <a:r>
              <a:t>[Categoria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499" y="2413000"/>
            <a:ext cx="3556000" cy="603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144330"/>
                </a:solidFill>
                <a:latin typeface="Fraunces"/>
              </a:defRPr>
            </a:pPr>
            <a:r>
              <a:t>[Percentual]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3460750"/>
            <a:ext cx="152400" cy="698500"/>
          </a:xfrm>
          <a:prstGeom prst="rect">
            <a:avLst/>
          </a:prstGeom>
          <a:solidFill>
            <a:srgbClr val="6397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500" y="3492500"/>
            <a:ext cx="5334000" cy="412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44330"/>
                </a:solidFill>
                <a:latin typeface="Inter"/>
              </a:defRPr>
            </a:pPr>
            <a:r>
              <a:t>[Categoria 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499" y="3460750"/>
            <a:ext cx="3556000" cy="603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144330"/>
                </a:solidFill>
                <a:latin typeface="Fraunces"/>
              </a:defRPr>
            </a:pPr>
            <a:r>
              <a:t>[Percentual]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4508500"/>
            <a:ext cx="152400" cy="698500"/>
          </a:xfrm>
          <a:prstGeom prst="rect">
            <a:avLst/>
          </a:prstGeom>
          <a:solidFill>
            <a:srgbClr val="F3A2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9500" y="4540250"/>
            <a:ext cx="5334000" cy="412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44330"/>
                </a:solidFill>
                <a:latin typeface="Inter"/>
              </a:defRPr>
            </a:pPr>
            <a:r>
              <a:t>[Categoria 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499" y="4508500"/>
            <a:ext cx="3556000" cy="603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144330"/>
                </a:solidFill>
                <a:latin typeface="Fraunces"/>
              </a:defRPr>
            </a:pPr>
            <a:r>
              <a:t>[Percentual]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73750"/>
            <a:ext cx="10922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86157"/>
                </a:solidFill>
                <a:latin typeface="Inter"/>
              </a:defRPr>
            </a:pPr>
            <a:r>
              <a:t>[Total e fonte dos dados · percentuais devem somar 100%]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86157"/>
                </a:solidFill>
                <a:latin typeface="Inter"/>
              </a:defRPr>
            </a:pPr>
            <a:r>
              <a:t>TAMOIOS TECNOLOGIA  /  DADOS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86157"/>
                </a:solidFill>
                <a:latin typeface="Inter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9735"/>
                </a:solidFill>
                <a:latin typeface="Inter"/>
              </a:defRPr>
            </a:pPr>
            <a:r>
              <a:t>ESPECIFICAÇÕES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857250"/>
            <a:ext cx="10414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rgbClr val="144330"/>
                </a:solidFill>
                <a:latin typeface="Fraunces"/>
              </a:defRPr>
            </a:pPr>
            <a:r>
              <a:t>[Escolha a configuração ideal.]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2222500"/>
            <a:ext cx="10922000" cy="635000"/>
          </a:xfrm>
          <a:prstGeom prst="rect">
            <a:avLst/>
          </a:prstGeom>
          <a:solidFill>
            <a:srgbClr val="1443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500" y="2387600"/>
            <a:ext cx="2413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AF9F4"/>
                </a:solidFill>
                <a:latin typeface="Inter"/>
              </a:defRPr>
            </a:pPr>
            <a:r>
              <a:t>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6000" y="2387600"/>
            <a:ext cx="2413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AF9F4"/>
                </a:solidFill>
                <a:latin typeface="Inter"/>
              </a:defRPr>
            </a:pPr>
            <a:r>
              <a:t>Dimensões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387600"/>
            <a:ext cx="2413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AF9F4"/>
                </a:solidFill>
                <a:latin typeface="Inter"/>
              </a:defRPr>
            </a:pPr>
            <a:r>
              <a:t>Aplicação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2387600"/>
            <a:ext cx="2413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AF9F4"/>
                </a:solidFill>
                <a:latin typeface="Inter"/>
              </a:defRPr>
            </a:pPr>
            <a:r>
              <a:t>Observação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" y="2889250"/>
            <a:ext cx="10922000" cy="635000"/>
          </a:xfrm>
          <a:prstGeom prst="rect">
            <a:avLst/>
          </a:prstGeom>
          <a:solidFill>
            <a:srgbClr val="F5F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500" y="3054350"/>
            <a:ext cx="2413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4330"/>
                </a:solidFill>
                <a:latin typeface="Inter"/>
              </a:defRPr>
            </a:pPr>
            <a:r>
              <a:t>[Modelo]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6000" y="3054350"/>
            <a:ext cx="2413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4330"/>
                </a:solidFill>
                <a:latin typeface="Inter"/>
              </a:defRPr>
            </a:pPr>
            <a:r>
              <a:t>[mm]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3054350"/>
            <a:ext cx="2413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4330"/>
                </a:solidFill>
                <a:latin typeface="Inter"/>
              </a:defRPr>
            </a:pPr>
            <a:r>
              <a:t>[Uso]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7000" y="3054350"/>
            <a:ext cx="2413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4330"/>
                </a:solidFill>
                <a:latin typeface="Inter"/>
              </a:defRPr>
            </a:pPr>
            <a:r>
              <a:t>[Detalhe]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556000"/>
            <a:ext cx="10922000" cy="635000"/>
          </a:xfrm>
          <a:prstGeom prst="rect">
            <a:avLst/>
          </a:prstGeom>
          <a:solidFill>
            <a:srgbClr val="FAF9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500" y="3721100"/>
            <a:ext cx="2413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4330"/>
                </a:solidFill>
                <a:latin typeface="Inter"/>
              </a:defRPr>
            </a:pPr>
            <a:r>
              <a:t>[Modelo]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6000" y="3721100"/>
            <a:ext cx="2413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4330"/>
                </a:solidFill>
                <a:latin typeface="Inter"/>
              </a:defRPr>
            </a:pPr>
            <a:r>
              <a:t>[mm]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3721100"/>
            <a:ext cx="2413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4330"/>
                </a:solidFill>
                <a:latin typeface="Inter"/>
              </a:defRPr>
            </a:pPr>
            <a:r>
              <a:t>[Uso]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7000" y="3721100"/>
            <a:ext cx="2413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4330"/>
                </a:solidFill>
                <a:latin typeface="Inter"/>
              </a:defRPr>
            </a:pPr>
            <a:r>
              <a:t>[Detalhe]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222750"/>
            <a:ext cx="10922000" cy="635000"/>
          </a:xfrm>
          <a:prstGeom prst="rect">
            <a:avLst/>
          </a:prstGeom>
          <a:solidFill>
            <a:srgbClr val="F5F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500" y="4387850"/>
            <a:ext cx="2413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4330"/>
                </a:solidFill>
                <a:latin typeface="Inter"/>
              </a:defRPr>
            </a:pPr>
            <a:r>
              <a:t>[Modelo]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6000" y="4387850"/>
            <a:ext cx="2413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4330"/>
                </a:solidFill>
                <a:latin typeface="Inter"/>
              </a:defRPr>
            </a:pPr>
            <a:r>
              <a:t>[mm]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0" y="4387850"/>
            <a:ext cx="2413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4330"/>
                </a:solidFill>
                <a:latin typeface="Inter"/>
              </a:defRPr>
            </a:pPr>
            <a:r>
              <a:t>[Uso]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7000" y="4387850"/>
            <a:ext cx="2413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4330"/>
                </a:solidFill>
                <a:latin typeface="Inter"/>
              </a:defRPr>
            </a:pPr>
            <a:r>
              <a:t>[Detalhe]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889500"/>
            <a:ext cx="10922000" cy="635000"/>
          </a:xfrm>
          <a:prstGeom prst="rect">
            <a:avLst/>
          </a:prstGeom>
          <a:solidFill>
            <a:srgbClr val="FAF9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500" y="5054600"/>
            <a:ext cx="2413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4330"/>
                </a:solidFill>
                <a:latin typeface="Inter"/>
              </a:defRPr>
            </a:pPr>
            <a:r>
              <a:t>[Modelo]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6000" y="5054600"/>
            <a:ext cx="2413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4330"/>
                </a:solidFill>
                <a:latin typeface="Inter"/>
              </a:defRPr>
            </a:pPr>
            <a:r>
              <a:t>[mm]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6500" y="5054600"/>
            <a:ext cx="2413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4330"/>
                </a:solidFill>
                <a:latin typeface="Inter"/>
              </a:defRPr>
            </a:pPr>
            <a:r>
              <a:t>[Uso]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7000" y="5054600"/>
            <a:ext cx="2413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4330"/>
                </a:solidFill>
                <a:latin typeface="Inter"/>
              </a:defRPr>
            </a:pPr>
            <a:r>
              <a:t>[Detalhe]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86157"/>
                </a:solidFill>
                <a:latin typeface="Inter"/>
              </a:defRPr>
            </a:pPr>
            <a:r>
              <a:t>TAMOIOS TECNOLOGIA  /  DADOS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86157"/>
                </a:solidFill>
                <a:latin typeface="Inter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9735"/>
                </a:solidFill>
                <a:latin typeface="Inter"/>
              </a:defRPr>
            </a:pPr>
            <a:r>
              <a:t>TRANSFORMAÇÃO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857250"/>
            <a:ext cx="10414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rgbClr val="144330"/>
                </a:solidFill>
                <a:latin typeface="Fraunces"/>
              </a:defRPr>
            </a:pPr>
            <a:r>
              <a:t>[Uma escolha que muda o processo.]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2222500"/>
            <a:ext cx="5270500" cy="3619500"/>
          </a:xfrm>
          <a:prstGeom prst="rect">
            <a:avLst/>
          </a:prstGeom>
          <a:solidFill>
            <a:srgbClr val="F5F0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0750" y="2540000"/>
            <a:ext cx="46990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144330"/>
                </a:solidFill>
                <a:latin typeface="Fraunces"/>
              </a:defRPr>
            </a:pPr>
            <a:r>
              <a:t>[Cenário atual]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750" y="3619500"/>
            <a:ext cx="4699000" cy="1873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4330"/>
                </a:solidFill>
                <a:latin typeface="Inter"/>
              </a:defRPr>
            </a:pPr>
            <a:r>
              <a:t>[Material e uso]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4330"/>
                </a:solidFill>
                <a:latin typeface="Inter"/>
              </a:defRPr>
            </a:pP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4330"/>
                </a:solidFill>
                <a:latin typeface="Inter"/>
              </a:defRPr>
            </a:pPr>
            <a:r>
              <a:t>[Limitação ou vantagem]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4330"/>
                </a:solidFill>
                <a:latin typeface="Inter"/>
              </a:defRPr>
            </a:pP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4330"/>
                </a:solidFill>
                <a:latin typeface="Inter"/>
              </a:defRPr>
            </a:pPr>
            <a:r>
              <a:t>[Evidência validada]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6500" y="2222500"/>
            <a:ext cx="5270500" cy="3619500"/>
          </a:xfrm>
          <a:prstGeom prst="rect">
            <a:avLst/>
          </a:prstGeom>
          <a:solidFill>
            <a:srgbClr val="1443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72250" y="2540000"/>
            <a:ext cx="46990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FAF9F4"/>
                </a:solidFill>
                <a:latin typeface="Fraunces"/>
              </a:defRPr>
            </a:pPr>
            <a:r>
              <a:t>[Cenário proposto]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3619500"/>
            <a:ext cx="4699000" cy="1873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AF9F4"/>
                </a:solidFill>
                <a:latin typeface="Inter"/>
              </a:defRPr>
            </a:pPr>
            <a:r>
              <a:t>[Material e uso]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AF9F4"/>
                </a:solidFill>
                <a:latin typeface="Inter"/>
              </a:defRPr>
            </a:pP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AF9F4"/>
                </a:solidFill>
                <a:latin typeface="Inter"/>
              </a:defRPr>
            </a:pPr>
            <a:r>
              <a:t>[Limitação ou vantagem]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AF9F4"/>
                </a:solidFill>
                <a:latin typeface="Inter"/>
              </a:defRPr>
            </a:pP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AF9F4"/>
                </a:solidFill>
                <a:latin typeface="Inter"/>
              </a:defRPr>
            </a:pPr>
            <a:r>
              <a:t>[Evidência validada]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86157"/>
                </a:solidFill>
                <a:latin typeface="Inter"/>
              </a:defRPr>
            </a:pPr>
            <a:r>
              <a:t>TAMOIOS TECNOLOGIA  /  COMPARAÇÃO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86157"/>
                </a:solidFill>
                <a:latin typeface="Inter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9735"/>
                </a:solidFill>
                <a:latin typeface="Inter"/>
              </a:defRPr>
            </a:pPr>
            <a:r>
              <a:t>COMO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857250"/>
            <a:ext cx="10414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rgbClr val="144330"/>
                </a:solidFill>
                <a:latin typeface="Fraunces"/>
              </a:defRPr>
            </a:pPr>
            <a:r>
              <a:t>[Do projeto à entrega.]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2476500"/>
            <a:ext cx="2476500" cy="920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000" b="0">
                <a:solidFill>
                  <a:srgbClr val="639735"/>
                </a:solidFill>
                <a:latin typeface="Fraunce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3778250"/>
            <a:ext cx="2476500" cy="539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50" b="0">
                <a:solidFill>
                  <a:srgbClr val="144330"/>
                </a:solidFill>
                <a:latin typeface="Fraunces"/>
              </a:defRPr>
            </a:pPr>
            <a:r>
              <a:t>Diagnóstico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4699000"/>
            <a:ext cx="24765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86157"/>
                </a:solidFill>
                <a:latin typeface="Inter"/>
              </a:defRPr>
            </a:pPr>
            <a:r>
              <a:t>[Atividade, responsável e entrega desta etapa.]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60750" y="2476500"/>
            <a:ext cx="2476500" cy="920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000" b="0">
                <a:solidFill>
                  <a:srgbClr val="639735"/>
                </a:solidFill>
                <a:latin typeface="Fraunce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60750" y="3778250"/>
            <a:ext cx="2476500" cy="539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50" b="0">
                <a:solidFill>
                  <a:srgbClr val="144330"/>
                </a:solidFill>
                <a:latin typeface="Fraunces"/>
              </a:defRPr>
            </a:pPr>
            <a:r>
              <a:t>Desenvolvimento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60750" y="4699000"/>
            <a:ext cx="24765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86157"/>
                </a:solidFill>
                <a:latin typeface="Inter"/>
              </a:defRPr>
            </a:pPr>
            <a:r>
              <a:t>[Atividade, responsável e entrega desta etapa.]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476500"/>
            <a:ext cx="2476500" cy="920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000" b="0">
                <a:solidFill>
                  <a:srgbClr val="639735"/>
                </a:solidFill>
                <a:latin typeface="Fraunces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3778250"/>
            <a:ext cx="2476500" cy="539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50" b="0">
                <a:solidFill>
                  <a:srgbClr val="144330"/>
                </a:solidFill>
                <a:latin typeface="Fraunces"/>
              </a:defRPr>
            </a:pPr>
            <a:r>
              <a:t>Validação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4699000"/>
            <a:ext cx="24765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86157"/>
                </a:solidFill>
                <a:latin typeface="Inter"/>
              </a:defRPr>
            </a:pPr>
            <a:r>
              <a:t>[Atividade, responsável e entrega desta etapa.]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12250" y="2476500"/>
            <a:ext cx="2476500" cy="920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000" b="0">
                <a:solidFill>
                  <a:srgbClr val="639735"/>
                </a:solidFill>
                <a:latin typeface="Fraunces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2250" y="3778250"/>
            <a:ext cx="2476500" cy="539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50" b="0">
                <a:solidFill>
                  <a:srgbClr val="144330"/>
                </a:solidFill>
                <a:latin typeface="Fraunces"/>
              </a:defRPr>
            </a:pPr>
            <a:r>
              <a:t>Produção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2250" y="4699000"/>
            <a:ext cx="24765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86157"/>
                </a:solidFill>
                <a:latin typeface="Inter"/>
              </a:defRPr>
            </a:pPr>
            <a:r>
              <a:t>[Atividade, responsável e entrega desta etapa.]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86157"/>
                </a:solidFill>
                <a:latin typeface="Inter"/>
              </a:defRPr>
            </a:pPr>
            <a:r>
              <a:t>TAMOIOS TECNOLOGIA  /  PROCESSO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86157"/>
                </a:solidFill>
                <a:latin typeface="Inter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9735"/>
                </a:solidFill>
                <a:latin typeface="Inter"/>
              </a:defRPr>
            </a:pPr>
            <a:r>
              <a:t>PLANO DE TRABALHO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857250"/>
            <a:ext cx="10414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rgbClr val="144330"/>
                </a:solidFill>
                <a:latin typeface="Fraunces"/>
              </a:defRPr>
            </a:pPr>
            <a:r>
              <a:t>[Um caminho compartilhado.]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2476500"/>
            <a:ext cx="2603500" cy="539750"/>
          </a:xfrm>
          <a:prstGeom prst="rect">
            <a:avLst/>
          </a:prstGeom>
          <a:solidFill>
            <a:srgbClr val="1443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7400" y="2628900"/>
            <a:ext cx="2286000" cy="34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AF9F4"/>
                </a:solidFill>
                <a:latin typeface="Inter"/>
              </a:defRPr>
            </a:pPr>
            <a:r>
              <a:t>[Etapa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3365500"/>
            <a:ext cx="2540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639735"/>
                </a:solidFill>
                <a:latin typeface="Fraunces"/>
              </a:defRPr>
            </a:pPr>
            <a:r>
              <a:t>[Prazo]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428625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86157"/>
                </a:solidFill>
                <a:latin typeface="Inter"/>
              </a:defRPr>
            </a:pPr>
            <a:r>
              <a:t>[Marco principal]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86157"/>
                </a:solidFill>
                <a:latin typeface="Inter"/>
              </a:defRPr>
            </a:pP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86157"/>
                </a:solidFill>
                <a:latin typeface="Inter"/>
              </a:defRPr>
            </a:pPr>
            <a:r>
              <a:t>[Entrega prevista]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7250" y="2476500"/>
            <a:ext cx="2603500" cy="539750"/>
          </a:xfrm>
          <a:prstGeom prst="rect">
            <a:avLst/>
          </a:prstGeom>
          <a:solidFill>
            <a:srgbClr val="1443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9650" y="2628900"/>
            <a:ext cx="2286000" cy="34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AF9F4"/>
                </a:solidFill>
                <a:latin typeface="Inter"/>
              </a:defRPr>
            </a:pPr>
            <a:r>
              <a:t>[Etapa 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7250" y="3365500"/>
            <a:ext cx="2540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639735"/>
                </a:solidFill>
                <a:latin typeface="Fraunces"/>
              </a:defRPr>
            </a:pPr>
            <a:r>
              <a:t>[Prazo]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7250" y="428625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86157"/>
                </a:solidFill>
                <a:latin typeface="Inter"/>
              </a:defRPr>
            </a:pPr>
            <a:r>
              <a:t>[Marco principal]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86157"/>
                </a:solidFill>
                <a:latin typeface="Inter"/>
              </a:defRPr>
            </a:pP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86157"/>
                </a:solidFill>
                <a:latin typeface="Inter"/>
              </a:defRPr>
            </a:pPr>
            <a:r>
              <a:t>[Entrega prevista]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9500" y="2476500"/>
            <a:ext cx="2603500" cy="539750"/>
          </a:xfrm>
          <a:prstGeom prst="rect">
            <a:avLst/>
          </a:prstGeom>
          <a:solidFill>
            <a:srgbClr val="1443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1900" y="2628900"/>
            <a:ext cx="2286000" cy="34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AF9F4"/>
                </a:solidFill>
                <a:latin typeface="Inter"/>
              </a:defRPr>
            </a:pPr>
            <a:r>
              <a:t>[Etapa 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9500" y="3365500"/>
            <a:ext cx="2540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639735"/>
                </a:solidFill>
                <a:latin typeface="Fraunces"/>
              </a:defRPr>
            </a:pPr>
            <a:r>
              <a:t>[Prazo]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9500" y="428625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86157"/>
                </a:solidFill>
                <a:latin typeface="Inter"/>
              </a:defRPr>
            </a:pPr>
            <a:r>
              <a:t>[Marco principal]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86157"/>
                </a:solidFill>
                <a:latin typeface="Inter"/>
              </a:defRPr>
            </a:pP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86157"/>
                </a:solidFill>
                <a:latin typeface="Inter"/>
              </a:defRPr>
            </a:pPr>
            <a:r>
              <a:t>[Entrega prevista]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21750" y="2476500"/>
            <a:ext cx="2603500" cy="539750"/>
          </a:xfrm>
          <a:prstGeom prst="rect">
            <a:avLst/>
          </a:prstGeom>
          <a:solidFill>
            <a:srgbClr val="1443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4150" y="2628900"/>
            <a:ext cx="2286000" cy="34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AF9F4"/>
                </a:solidFill>
                <a:latin typeface="Inter"/>
              </a:defRPr>
            </a:pPr>
            <a:r>
              <a:t>[Etapa 4]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1750" y="3365500"/>
            <a:ext cx="2540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639735"/>
                </a:solidFill>
                <a:latin typeface="Fraunces"/>
              </a:defRPr>
            </a:pPr>
            <a:r>
              <a:t>[Prazo]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1750" y="428625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86157"/>
                </a:solidFill>
                <a:latin typeface="Inter"/>
              </a:defRPr>
            </a:pPr>
            <a:r>
              <a:t>[Marco principal]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86157"/>
                </a:solidFill>
                <a:latin typeface="Inter"/>
              </a:defRPr>
            </a:pP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86157"/>
                </a:solidFill>
                <a:latin typeface="Inter"/>
              </a:defRPr>
            </a:pPr>
            <a:r>
              <a:t>[Entrega prevista]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86157"/>
                </a:solidFill>
                <a:latin typeface="Inter"/>
              </a:defRPr>
            </a:pPr>
            <a:r>
              <a:t>TAMOIOS TECNOLOGIA  /  PROCESSO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86157"/>
                </a:solidFill>
                <a:latin typeface="Inter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9735"/>
                </a:solidFill>
                <a:latin typeface="Inter"/>
              </a:defRPr>
            </a:pPr>
            <a:r>
              <a:t>[CLIENTE AUTORIZADO]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857250"/>
            <a:ext cx="10414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rgbClr val="144330"/>
                </a:solidFill>
                <a:latin typeface="Fraunces"/>
              </a:defRPr>
            </a:pPr>
            <a:r>
              <a:t>[Um desafio. Uma solução concreta.]</a:t>
            </a:r>
          </a:p>
        </p:txBody>
      </p:sp>
      <p:pic>
        <p:nvPicPr>
          <p:cNvPr id="4" name="Picture 3" descr="jornada-morango.jpg"/>
          <p:cNvPicPr>
            <a:picLocks noChangeAspect="1"/>
          </p:cNvPicPr>
          <p:nvPr/>
        </p:nvPicPr>
        <p:blipFill>
          <a:blip r:embed="rId2"/>
          <a:srcRect t="13291" b="13291"/>
          <a:stretch>
            <a:fillRect/>
          </a:stretch>
        </p:blipFill>
        <p:spPr>
          <a:xfrm>
            <a:off x="635000" y="2222500"/>
            <a:ext cx="5016500" cy="368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23000" y="2317750"/>
            <a:ext cx="5080000" cy="412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39735"/>
                </a:solidFill>
                <a:latin typeface="Fraunces"/>
              </a:defRPr>
            </a:pPr>
            <a:r>
              <a:t>Desafio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23000" y="2825750"/>
            <a:ext cx="5080000" cy="603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44330"/>
                </a:solidFill>
                <a:latin typeface="Inter"/>
              </a:defRPr>
            </a:pPr>
            <a:r>
              <a:t>[Descrição curta e verificável.]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3000" y="3492500"/>
            <a:ext cx="5080000" cy="412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39735"/>
                </a:solidFill>
                <a:latin typeface="Fraunces"/>
              </a:defRPr>
            </a:pPr>
            <a:r>
              <a:t>Solução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3000" y="4000500"/>
            <a:ext cx="5080000" cy="603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44330"/>
                </a:solidFill>
                <a:latin typeface="Inter"/>
              </a:defRPr>
            </a:pPr>
            <a:r>
              <a:t>[Descrição curta e verificável.]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3000" y="4667250"/>
            <a:ext cx="5080000" cy="412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39735"/>
                </a:solidFill>
                <a:latin typeface="Fraunces"/>
              </a:defRPr>
            </a:pPr>
            <a:r>
              <a:t>Resultado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3000" y="5175250"/>
            <a:ext cx="5080000" cy="603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44330"/>
                </a:solidFill>
                <a:latin typeface="Inter"/>
              </a:defRPr>
            </a:pPr>
            <a:r>
              <a:t>[Descrição curta e verificável.]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86157"/>
                </a:solidFill>
                <a:latin typeface="Inter"/>
              </a:defRPr>
            </a:pPr>
            <a:r>
              <a:t>TAMOIOS TECNOLOGIA  / 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86157"/>
                </a:solidFill>
                <a:latin typeface="Inter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3A216"/>
                </a:solidFill>
                <a:latin typeface="Inter"/>
              </a:defRPr>
            </a:pPr>
            <a:r>
              <a:t>[CLIENTE · CARGO]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857250"/>
            <a:ext cx="10414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rgbClr val="FAF9F4"/>
                </a:solidFill>
                <a:latin typeface="Fraunces"/>
              </a:defRPr>
            </a:pPr>
            <a:r>
              <a:t>[Uma experiência compartilhada.]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2540000"/>
            <a:ext cx="10287000" cy="2095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FAF9F4"/>
                </a:solidFill>
                <a:latin typeface="Fraunces"/>
              </a:defRPr>
            </a:pPr>
            <a:r>
              <a:t>“[Insira aqui apenas um depoimento real, com autorização de uso.]”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5365750"/>
            <a:ext cx="9525000" cy="412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3A216"/>
                </a:solidFill>
                <a:latin typeface="Inter"/>
              </a:defRPr>
            </a:pPr>
            <a:r>
              <a:t>[Nome · Empresa · Data]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AF9F4"/>
                </a:solidFill>
                <a:latin typeface="Inter"/>
              </a:defRPr>
            </a:pPr>
            <a:r>
              <a:t>TAMOIOS TECNOLOGIA  / 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AF9F4"/>
                </a:solidFill>
                <a:latin typeface="Inter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9735"/>
                </a:solidFill>
                <a:latin typeface="Inter"/>
              </a:defRPr>
            </a:pPr>
            <a:r>
              <a:t>[CLIENTE · VERSÃO · VALIDADE]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857250"/>
            <a:ext cx="10414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44330"/>
                </a:solidFill>
                <a:latin typeface="Fraunces"/>
              </a:defRPr>
            </a:pPr>
            <a:r>
              <a:t>[Uma proposta feita para sua operação.]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2254250"/>
            <a:ext cx="2730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39735"/>
                </a:solidFill>
                <a:latin typeface="Fraunces"/>
              </a:defRPr>
            </a:pPr>
            <a:r>
              <a:t>Escopo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27500" y="2298700"/>
            <a:ext cx="7302500" cy="603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4330"/>
                </a:solidFill>
                <a:latin typeface="Inter"/>
              </a:defRPr>
            </a:pPr>
            <a:r>
              <a:t>[Produto, quantidade e especificação]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3143250"/>
            <a:ext cx="2730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39735"/>
                </a:solidFill>
                <a:latin typeface="Fraunces"/>
              </a:defRPr>
            </a:pPr>
            <a:r>
              <a:t>Investimento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27500" y="3187700"/>
            <a:ext cx="7302500" cy="603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4330"/>
                </a:solidFill>
                <a:latin typeface="Inter"/>
              </a:defRPr>
            </a:pPr>
            <a:r>
              <a:t>[Preço, moeda e condições]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4032250"/>
            <a:ext cx="2730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39735"/>
                </a:solidFill>
                <a:latin typeface="Fraunces"/>
              </a:defRPr>
            </a:pPr>
            <a:r>
              <a:t>Entrega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7500" y="4076699"/>
            <a:ext cx="7302500" cy="603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4330"/>
                </a:solidFill>
                <a:latin typeface="Inter"/>
              </a:defRPr>
            </a:pPr>
            <a:r>
              <a:t>[Prazo, frete e local de entrega]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4921250"/>
            <a:ext cx="2730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39735"/>
                </a:solidFill>
                <a:latin typeface="Fraunces"/>
              </a:defRPr>
            </a:pPr>
            <a:r>
              <a:t>Condições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7500" y="4965700"/>
            <a:ext cx="7302500" cy="603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4330"/>
                </a:solidFill>
                <a:latin typeface="Inter"/>
              </a:defRPr>
            </a:pPr>
            <a:r>
              <a:t>[Pagamento, impostos e validade]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86157"/>
                </a:solidFill>
                <a:latin typeface="Inter"/>
              </a:defRPr>
            </a:pPr>
            <a:r>
              <a:t>TAMOIOS TECNOLOGIA  /  COMERCIAL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86157"/>
                </a:solidFill>
                <a:latin typeface="Inter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moios-logo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508000"/>
            <a:ext cx="1143000" cy="114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5000" y="2254250"/>
            <a:ext cx="100965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0" b="0">
                <a:solidFill>
                  <a:srgbClr val="FAF9F4"/>
                </a:solidFill>
                <a:latin typeface="Fraunces"/>
              </a:defRPr>
            </a:pPr>
            <a:r>
              <a:t>Vamos transformar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500" b="0">
                <a:solidFill>
                  <a:srgbClr val="FAF9F4"/>
                </a:solidFill>
                <a:latin typeface="Fraunces"/>
              </a:defRPr>
            </a:pPr>
            <a:r>
              <a:t>o próximo capítulo.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4762500"/>
            <a:ext cx="9525000" cy="412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A216"/>
                </a:solidFill>
                <a:latin typeface="Inter"/>
              </a:defRPr>
            </a:pPr>
            <a:r>
              <a:t>[Próximo passo acordado]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5461000"/>
            <a:ext cx="9969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AF9F4"/>
                </a:solidFill>
                <a:latin typeface="Inter"/>
              </a:defRPr>
            </a:pPr>
            <a:r>
              <a:t>fernanda@tamoiostecnologia.com.br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AF9F4"/>
                </a:solidFill>
                <a:latin typeface="Inter"/>
              </a:defRPr>
            </a:pPr>
            <a:r>
              <a:t>+55 11 94006 6986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337300"/>
            <a:ext cx="990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AF9F4"/>
                </a:solidFill>
                <a:latin typeface="Inter"/>
              </a:defRPr>
            </a:pPr>
            <a:r>
              <a:t>TAMOIOS TECNOLOGIA  /  COMERCIAL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2992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AF9F4"/>
                </a:solidFill>
                <a:latin typeface="Inter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Tamoios Tecnologia — Biblioteca de modelos v2</dc:title>
  <dc:subject>24 modelos editáveis de apresentação</dc:subject>
  <dc:creator>Tamoios Tecnologia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