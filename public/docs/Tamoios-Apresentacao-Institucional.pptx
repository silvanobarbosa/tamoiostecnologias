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  <p:sldMasterId id="2147483663" r:id="rId2"/>
    <p:sldMasterId id="2147483664" r:id="rId3"/>
  </p:sldMasterIdLst>
  <p:notesMasterIdLst>
    <p:notesMasterId r:id="rId23"/>
  </p:notesMasterIdLst>
  <p:sldIdLst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63" r:id="rId20"/>
    <p:sldId id="261" r:id="rId21"/>
    <p:sldId id="281" r:id="rId22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4"/>
      <p:bold r:id="rId25"/>
      <p:italic r:id="rId26"/>
      <p:boldItalic r:id="rId27"/>
    </p:embeddedFont>
    <p:embeddedFont>
      <p:font typeface="Trebuchet MS" panose="020B0603020202020204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990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3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8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f816a0bdfa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6995775" y="-11796713"/>
            <a:ext cx="22175788" cy="12474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3" name="Google Shape;173;g1f816a0bdfa_0_67:notes"/>
          <p:cNvSpPr/>
          <p:nvPr/>
        </p:nvSpPr>
        <p:spPr>
          <a:xfrm>
            <a:off x="685800" y="4343400"/>
            <a:ext cx="5464200" cy="40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1f816a0bdfa_0_67:notes"/>
          <p:cNvSpPr txBox="1"/>
          <p:nvPr/>
        </p:nvSpPr>
        <p:spPr>
          <a:xfrm>
            <a:off x="3884612" y="8685212"/>
            <a:ext cx="2949600" cy="4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1f816a0bdfa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60900" cy="40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f816a0bdfa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6995775" y="-11796713"/>
            <a:ext cx="22175788" cy="12474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86" name="Google Shape;186;g1f816a0bdfa_0_45:notes"/>
          <p:cNvSpPr/>
          <p:nvPr/>
        </p:nvSpPr>
        <p:spPr>
          <a:xfrm>
            <a:off x="685800" y="4343400"/>
            <a:ext cx="5464200" cy="40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1f816a0bdfa_0_45:notes"/>
          <p:cNvSpPr txBox="1"/>
          <p:nvPr/>
        </p:nvSpPr>
        <p:spPr>
          <a:xfrm>
            <a:off x="3884612" y="8685212"/>
            <a:ext cx="2949600" cy="4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1f816a0bdfa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60900" cy="40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f816a0bdfa_0_81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1f816a0bdfa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9c18a2ebfa_0_75:notes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322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&lt;data/hora&gt;</a:t>
            </a:r>
            <a:endParaRPr/>
          </a:p>
        </p:txBody>
      </p:sp>
      <p:sp>
        <p:nvSpPr>
          <p:cNvPr id="209" name="Google Shape;209;g39c18a2ebfa_0_75:notes"/>
          <p:cNvSpPr txBox="1"/>
          <p:nvPr/>
        </p:nvSpPr>
        <p:spPr>
          <a:xfrm>
            <a:off x="3884612" y="0"/>
            <a:ext cx="2949600" cy="4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-76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r>
              <a:rPr lang="pt-BR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&lt;data/hora&gt;</a:t>
            </a:r>
            <a:endParaRPr/>
          </a:p>
        </p:txBody>
      </p:sp>
      <p:sp>
        <p:nvSpPr>
          <p:cNvPr id="210" name="Google Shape;210;g39c18a2ebfa_0_75:notes"/>
          <p:cNvSpPr txBox="1"/>
          <p:nvPr/>
        </p:nvSpPr>
        <p:spPr>
          <a:xfrm>
            <a:off x="3884612" y="8685212"/>
            <a:ext cx="2949600" cy="4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-76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fld id="{00000000-1234-1234-1234-123412341234}" type="slidenum">
              <a:rPr lang="pt-BR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/>
          </a:p>
        </p:txBody>
      </p:sp>
      <p:sp>
        <p:nvSpPr>
          <p:cNvPr id="211" name="Google Shape;211;g39c18a2ebfa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6997363" y="-11796713"/>
            <a:ext cx="22180551" cy="12477751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12" name="Google Shape;212;g39c18a2ebfa_0_75:notes"/>
          <p:cNvSpPr/>
          <p:nvPr/>
        </p:nvSpPr>
        <p:spPr>
          <a:xfrm>
            <a:off x="685800" y="4343400"/>
            <a:ext cx="5467500" cy="4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9c18a2ebfa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46800" cy="40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c18a2ebf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6995775" y="-11796713"/>
            <a:ext cx="22175788" cy="12474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29" name="Google Shape;229;g39c18a2ebfa_0_0:notes"/>
          <p:cNvSpPr/>
          <p:nvPr/>
        </p:nvSpPr>
        <p:spPr>
          <a:xfrm>
            <a:off x="685800" y="4343400"/>
            <a:ext cx="5464200" cy="40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9c18a2ebfa_0_0:notes"/>
          <p:cNvSpPr txBox="1"/>
          <p:nvPr/>
        </p:nvSpPr>
        <p:spPr>
          <a:xfrm>
            <a:off x="3884612" y="8685212"/>
            <a:ext cx="2949600" cy="4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-76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fld id="{00000000-1234-1234-1234-123412341234}" type="slidenum">
              <a:rPr lang="pt-BR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/>
          </a:p>
        </p:txBody>
      </p:sp>
      <p:sp>
        <p:nvSpPr>
          <p:cNvPr id="231" name="Google Shape;231;g39c18a2ebf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46800" cy="40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9c18a2ebfa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6995775" y="-11796713"/>
            <a:ext cx="22175788" cy="12474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1" name="Google Shape;241;g39c18a2ebfa_0_25:notes"/>
          <p:cNvSpPr/>
          <p:nvPr/>
        </p:nvSpPr>
        <p:spPr>
          <a:xfrm>
            <a:off x="685800" y="4343400"/>
            <a:ext cx="5464200" cy="40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9c18a2ebfa_0_25:notes"/>
          <p:cNvSpPr txBox="1"/>
          <p:nvPr/>
        </p:nvSpPr>
        <p:spPr>
          <a:xfrm>
            <a:off x="3884612" y="8685212"/>
            <a:ext cx="2949600" cy="4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-76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fld id="{00000000-1234-1234-1234-123412341234}" type="slidenum">
              <a:rPr lang="pt-BR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/>
          </a:p>
        </p:txBody>
      </p:sp>
      <p:sp>
        <p:nvSpPr>
          <p:cNvPr id="243" name="Google Shape;243;g39c18a2ebfa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46800" cy="40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9c18a2ebfa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6995775" y="-11796713"/>
            <a:ext cx="22175788" cy="12474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54" name="Google Shape;254;g39c18a2ebfa_0_11:notes"/>
          <p:cNvSpPr/>
          <p:nvPr/>
        </p:nvSpPr>
        <p:spPr>
          <a:xfrm>
            <a:off x="685800" y="4343400"/>
            <a:ext cx="5464200" cy="40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9c18a2ebfa_0_11:notes"/>
          <p:cNvSpPr txBox="1"/>
          <p:nvPr/>
        </p:nvSpPr>
        <p:spPr>
          <a:xfrm>
            <a:off x="3884612" y="8685212"/>
            <a:ext cx="2949600" cy="4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-76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fld id="{00000000-1234-1234-1234-123412341234}" type="slidenum">
              <a:rPr lang="pt-BR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/>
          </a:p>
        </p:txBody>
      </p:sp>
      <p:sp>
        <p:nvSpPr>
          <p:cNvPr id="256" name="Google Shape;256;g39c18a2ebfa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46800" cy="40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9c18a2ebfa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6995775" y="-11796713"/>
            <a:ext cx="22175788" cy="12474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69" name="Google Shape;269;g39c18a2ebfa_0_37:notes"/>
          <p:cNvSpPr/>
          <p:nvPr/>
        </p:nvSpPr>
        <p:spPr>
          <a:xfrm>
            <a:off x="685800" y="4343400"/>
            <a:ext cx="5464200" cy="40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9c18a2ebfa_0_37:notes"/>
          <p:cNvSpPr txBox="1"/>
          <p:nvPr/>
        </p:nvSpPr>
        <p:spPr>
          <a:xfrm>
            <a:off x="3884612" y="8685212"/>
            <a:ext cx="2949600" cy="4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-76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fld id="{00000000-1234-1234-1234-123412341234}" type="slidenum">
              <a:rPr lang="pt-BR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/>
          </a:p>
        </p:txBody>
      </p:sp>
      <p:sp>
        <p:nvSpPr>
          <p:cNvPr id="271" name="Google Shape;271;g39c18a2ebfa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46800" cy="40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9c1660f2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6995775" y="-11796713"/>
            <a:ext cx="22175788" cy="12474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83" name="Google Shape;283;g39c1660f2d0_0_0:notes"/>
          <p:cNvSpPr/>
          <p:nvPr/>
        </p:nvSpPr>
        <p:spPr>
          <a:xfrm>
            <a:off x="685800" y="4343400"/>
            <a:ext cx="5464200" cy="40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9c1660f2d0_0_0:notes"/>
          <p:cNvSpPr txBox="1"/>
          <p:nvPr/>
        </p:nvSpPr>
        <p:spPr>
          <a:xfrm>
            <a:off x="3884612" y="8685212"/>
            <a:ext cx="2949600" cy="4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-76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fld id="{00000000-1234-1234-1234-123412341234}" type="slidenum">
              <a:rPr lang="pt-BR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/>
          </a:p>
        </p:txBody>
      </p:sp>
      <p:sp>
        <p:nvSpPr>
          <p:cNvPr id="285" name="Google Shape;285;g39c1660f2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46800" cy="40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9c1660f2d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6995775" y="-11796713"/>
            <a:ext cx="22175788" cy="12474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98" name="Google Shape;298;g39c1660f2d0_0_16:notes"/>
          <p:cNvSpPr/>
          <p:nvPr/>
        </p:nvSpPr>
        <p:spPr>
          <a:xfrm>
            <a:off x="685800" y="4343400"/>
            <a:ext cx="5464200" cy="40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9c1660f2d0_0_16:notes"/>
          <p:cNvSpPr txBox="1"/>
          <p:nvPr/>
        </p:nvSpPr>
        <p:spPr>
          <a:xfrm>
            <a:off x="3884612" y="8685212"/>
            <a:ext cx="2949600" cy="4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-76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fld id="{00000000-1234-1234-1234-123412341234}" type="slidenum">
              <a:rPr lang="pt-BR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/>
          </a:p>
        </p:txBody>
      </p:sp>
      <p:sp>
        <p:nvSpPr>
          <p:cNvPr id="300" name="Google Shape;300;g39c1660f2d0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46800" cy="40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a9dcab12e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6995775" y="-11796713"/>
            <a:ext cx="22175788" cy="12474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11" name="Google Shape;311;g3a9dcab12e2_0_0:notes"/>
          <p:cNvSpPr/>
          <p:nvPr/>
        </p:nvSpPr>
        <p:spPr>
          <a:xfrm>
            <a:off x="685800" y="4343400"/>
            <a:ext cx="5464200" cy="40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3a9dcab12e2_0_0:notes"/>
          <p:cNvSpPr txBox="1"/>
          <p:nvPr/>
        </p:nvSpPr>
        <p:spPr>
          <a:xfrm>
            <a:off x="3884612" y="8685212"/>
            <a:ext cx="2949600" cy="4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-76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fld id="{00000000-1234-1234-1234-123412341234}" type="slidenum">
              <a:rPr lang="pt-BR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/>
          </a:p>
        </p:txBody>
      </p:sp>
      <p:sp>
        <p:nvSpPr>
          <p:cNvPr id="313" name="Google Shape;313;g3a9dcab12e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46800" cy="40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a9dcab12e2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6995775" y="-11796713"/>
            <a:ext cx="22175788" cy="12474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24" name="Google Shape;324;g3a9dcab12e2_0_12:notes"/>
          <p:cNvSpPr/>
          <p:nvPr/>
        </p:nvSpPr>
        <p:spPr>
          <a:xfrm>
            <a:off x="685800" y="4343400"/>
            <a:ext cx="5464200" cy="40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3a9dcab12e2_0_12:notes"/>
          <p:cNvSpPr txBox="1"/>
          <p:nvPr/>
        </p:nvSpPr>
        <p:spPr>
          <a:xfrm>
            <a:off x="3884612" y="8685212"/>
            <a:ext cx="2949600" cy="4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-76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fld id="{00000000-1234-1234-1234-123412341234}" type="slidenum">
              <a:rPr lang="pt-BR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/>
          </a:p>
        </p:txBody>
      </p:sp>
      <p:sp>
        <p:nvSpPr>
          <p:cNvPr id="326" name="Google Shape;326;g3a9dcab12e2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46800" cy="40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a9dcab12e2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6995775" y="-11796713"/>
            <a:ext cx="22175788" cy="12474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39" name="Google Shape;339;g3a9dcab12e2_0_29:notes"/>
          <p:cNvSpPr/>
          <p:nvPr/>
        </p:nvSpPr>
        <p:spPr>
          <a:xfrm>
            <a:off x="685800" y="4343400"/>
            <a:ext cx="5464200" cy="40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3a9dcab12e2_0_29:notes"/>
          <p:cNvSpPr txBox="1"/>
          <p:nvPr/>
        </p:nvSpPr>
        <p:spPr>
          <a:xfrm>
            <a:off x="3884612" y="8685212"/>
            <a:ext cx="2949600" cy="4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-76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fld id="{00000000-1234-1234-1234-123412341234}" type="slidenum">
              <a:rPr lang="pt-BR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/>
          </a:p>
        </p:txBody>
      </p:sp>
      <p:sp>
        <p:nvSpPr>
          <p:cNvPr id="341" name="Google Shape;341;g3a9dcab12e2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46800" cy="40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ce552bd7ad_0_1:notes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322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&lt;data/hora&gt;</a:t>
            </a:r>
            <a:endParaRPr/>
          </a:p>
        </p:txBody>
      </p:sp>
      <p:sp>
        <p:nvSpPr>
          <p:cNvPr id="351" name="Google Shape;351;g2ce552bd7ad_0_1:notes"/>
          <p:cNvSpPr txBox="1"/>
          <p:nvPr/>
        </p:nvSpPr>
        <p:spPr>
          <a:xfrm>
            <a:off x="3884612" y="0"/>
            <a:ext cx="2949600" cy="4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-76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r>
              <a:rPr lang="pt-BR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&lt;data/hora&gt;</a:t>
            </a:r>
            <a:endParaRPr/>
          </a:p>
        </p:txBody>
      </p:sp>
      <p:sp>
        <p:nvSpPr>
          <p:cNvPr id="352" name="Google Shape;352;g2ce552bd7ad_0_1:notes"/>
          <p:cNvSpPr txBox="1"/>
          <p:nvPr/>
        </p:nvSpPr>
        <p:spPr>
          <a:xfrm>
            <a:off x="3884612" y="8685212"/>
            <a:ext cx="2949600" cy="4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-76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fld id="{00000000-1234-1234-1234-123412341234}" type="slidenum">
              <a:rPr lang="pt-BR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/>
          </a:p>
        </p:txBody>
      </p:sp>
      <p:sp>
        <p:nvSpPr>
          <p:cNvPr id="353" name="Google Shape;353;g2ce552bd7a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6997363" y="-11796713"/>
            <a:ext cx="22180551" cy="12477751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54" name="Google Shape;354;g2ce552bd7ad_0_1:notes"/>
          <p:cNvSpPr/>
          <p:nvPr/>
        </p:nvSpPr>
        <p:spPr>
          <a:xfrm>
            <a:off x="685800" y="4343400"/>
            <a:ext cx="5467500" cy="4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g2ce552bd7ad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46800" cy="40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6995775" y="-11796713"/>
            <a:ext cx="22174200" cy="12472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37" name="Google Shape;23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62587" cy="409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6995775" y="-11796713"/>
            <a:ext cx="22175788" cy="12474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10" name="Google Shape;210;p9:notes"/>
          <p:cNvSpPr/>
          <p:nvPr/>
        </p:nvSpPr>
        <p:spPr>
          <a:xfrm>
            <a:off x="685800" y="4343400"/>
            <a:ext cx="5464175" cy="409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9:notes"/>
          <p:cNvSpPr txBox="1"/>
          <p:nvPr/>
        </p:nvSpPr>
        <p:spPr>
          <a:xfrm>
            <a:off x="3884612" y="8685212"/>
            <a:ext cx="2949575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-76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/>
          </a:p>
        </p:txBody>
      </p:sp>
      <p:sp>
        <p:nvSpPr>
          <p:cNvPr id="212" name="Google Shape;21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61000" cy="408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6995775" y="-11796713"/>
            <a:ext cx="22175788" cy="12474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61" name="Google Shape;161;p6:notes"/>
          <p:cNvSpPr/>
          <p:nvPr/>
        </p:nvSpPr>
        <p:spPr>
          <a:xfrm>
            <a:off x="685800" y="4343400"/>
            <a:ext cx="5464175" cy="409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:notes"/>
          <p:cNvSpPr txBox="1"/>
          <p:nvPr/>
        </p:nvSpPr>
        <p:spPr>
          <a:xfrm>
            <a:off x="3884612" y="8685212"/>
            <a:ext cx="2949575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-76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/>
          </a:p>
        </p:txBody>
      </p:sp>
      <p:sp>
        <p:nvSpPr>
          <p:cNvPr id="163" name="Google Shape;16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61000" cy="408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b6c6fb11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6995775" y="-11796713"/>
            <a:ext cx="22175788" cy="12474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1" name="Google Shape;141;g38b6c6fb112_0_0:notes"/>
          <p:cNvSpPr/>
          <p:nvPr/>
        </p:nvSpPr>
        <p:spPr>
          <a:xfrm>
            <a:off x="685800" y="4343400"/>
            <a:ext cx="5464200" cy="40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8b6c6fb112_0_0:notes"/>
          <p:cNvSpPr txBox="1"/>
          <p:nvPr/>
        </p:nvSpPr>
        <p:spPr>
          <a:xfrm>
            <a:off x="3884612" y="8685212"/>
            <a:ext cx="2949600" cy="4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8b6c6fb11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60900" cy="40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8b6c6fb112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6995775" y="-11796713"/>
            <a:ext cx="22175788" cy="1247457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0" name="Google Shape;170;g38b6c6fb112_0_175:notes"/>
          <p:cNvSpPr/>
          <p:nvPr/>
        </p:nvSpPr>
        <p:spPr>
          <a:xfrm>
            <a:off x="685800" y="4343400"/>
            <a:ext cx="5464200" cy="40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8b6c6fb112_0_175:notes"/>
          <p:cNvSpPr txBox="1"/>
          <p:nvPr/>
        </p:nvSpPr>
        <p:spPr>
          <a:xfrm>
            <a:off x="3884612" y="8685212"/>
            <a:ext cx="2949600" cy="4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8b6c6fb112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60900" cy="40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097087" cy="246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ftr" idx="11"/>
          </p:nvPr>
        </p:nvSpPr>
        <p:spPr>
          <a:xfrm>
            <a:off x="3124200" y="4595813"/>
            <a:ext cx="2859087" cy="601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097087" cy="246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16137" cy="260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78137" cy="260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16137" cy="260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215900" lvl="0" indent="-20002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15900" lvl="1" indent="-20002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215900" lvl="2" indent="-20002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15900" lvl="3" indent="-20002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15900" lvl="4" indent="-20002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15900" lvl="5" indent="-20002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15900" lvl="6" indent="-20002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15900" lvl="7" indent="-20002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15900" lvl="8" indent="-20002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15900" lvl="0" indent="-200025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96440"/>
            <a:ext cx="8193087" cy="1059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193087" cy="337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097087" cy="246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124200" y="4595813"/>
            <a:ext cx="2859087" cy="601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097087" cy="246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12137" cy="844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12137" cy="3381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16137" cy="260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78137" cy="260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16137" cy="260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215900" marR="0" lvl="0" indent="-20002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15900" marR="0" lvl="1" indent="-20002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215900" marR="0" lvl="2" indent="-20002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15900" marR="0" lvl="3" indent="-20002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15900" marR="0" lvl="4" indent="-20002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15900" marR="0" lvl="5" indent="-20002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15900" marR="0" lvl="6" indent="-20002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15900" marR="0" lvl="7" indent="-20002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15900" marR="0" lvl="8" indent="-20002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15900" lvl="0" indent="-200025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jpg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jpg"/><Relationship Id="rId3" Type="http://schemas.openxmlformats.org/officeDocument/2006/relationships/image" Target="../media/image1.png"/><Relationship Id="rId7" Type="http://schemas.openxmlformats.org/officeDocument/2006/relationships/image" Target="../media/image4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jpg"/><Relationship Id="rId5" Type="http://schemas.openxmlformats.org/officeDocument/2006/relationships/image" Target="../media/image38.jpg"/><Relationship Id="rId10" Type="http://schemas.openxmlformats.org/officeDocument/2006/relationships/image" Target="../media/image43.jpg"/><Relationship Id="rId4" Type="http://schemas.openxmlformats.org/officeDocument/2006/relationships/image" Target="../media/image37.jpg"/><Relationship Id="rId9" Type="http://schemas.openxmlformats.org/officeDocument/2006/relationships/image" Target="../media/image4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7" name="Google Shape;177;p28"/>
          <p:cNvCxnSpPr/>
          <p:nvPr/>
        </p:nvCxnSpPr>
        <p:spPr>
          <a:xfrm>
            <a:off x="0" y="423863"/>
            <a:ext cx="7021500" cy="1200"/>
          </a:xfrm>
          <a:prstGeom prst="straightConnector1">
            <a:avLst/>
          </a:prstGeom>
          <a:noFill/>
          <a:ln w="25550" cap="sq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160" dir="5400000">
              <a:srgbClr val="000000">
                <a:alpha val="37250"/>
              </a:srgbClr>
            </a:outerShdw>
          </a:effectLst>
        </p:spPr>
      </p:cxnSp>
      <p:pic>
        <p:nvPicPr>
          <p:cNvPr id="178" name="Google Shape;178;p28"/>
          <p:cNvPicPr preferRelativeResize="0"/>
          <p:nvPr/>
        </p:nvPicPr>
        <p:blipFill rotWithShape="1">
          <a:blip r:embed="rId3">
            <a:alphaModFix/>
          </a:blip>
          <a:srcRect l="32354" r="33332" b="46854"/>
          <a:stretch/>
        </p:blipFill>
        <p:spPr>
          <a:xfrm>
            <a:off x="8132762" y="-64294"/>
            <a:ext cx="976312" cy="1059656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8"/>
          <p:cNvSpPr txBox="1"/>
          <p:nvPr/>
        </p:nvSpPr>
        <p:spPr>
          <a:xfrm>
            <a:off x="6518275" y="4702969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8"/>
          <p:cNvSpPr txBox="1"/>
          <p:nvPr/>
        </p:nvSpPr>
        <p:spPr>
          <a:xfrm>
            <a:off x="115877" y="72625"/>
            <a:ext cx="5941800" cy="6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F6228"/>
              </a:buClr>
              <a:buSzPts val="1800"/>
              <a:buFont typeface="Balthazar"/>
              <a:buNone/>
            </a:pPr>
            <a:r>
              <a:rPr lang="pt-BR" sz="1800" b="1">
                <a:solidFill>
                  <a:srgbClr val="4F6228"/>
                </a:solidFill>
                <a:latin typeface="Montserrat"/>
                <a:ea typeface="Montserrat"/>
                <a:cs typeface="Montserrat"/>
                <a:sym typeface="Montserrat"/>
              </a:rPr>
              <a:t>Projetos Anteriores </a:t>
            </a:r>
            <a:endParaRPr sz="1800" b="1">
              <a:solidFill>
                <a:srgbClr val="4F622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F6228"/>
              </a:buClr>
              <a:buSzPts val="1800"/>
              <a:buFont typeface="Balthazar"/>
              <a:buNone/>
            </a:pPr>
            <a:r>
              <a:rPr lang="pt-BR" sz="1800" b="1">
                <a:solidFill>
                  <a:srgbClr val="4F6228"/>
                </a:solidFill>
                <a:latin typeface="Montserrat"/>
                <a:ea typeface="Montserrat"/>
                <a:cs typeface="Montserrat"/>
                <a:sym typeface="Montserrat"/>
              </a:rPr>
              <a:t> 	Embalagens para Autopeças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p28"/>
          <p:cNvSpPr txBox="1"/>
          <p:nvPr/>
        </p:nvSpPr>
        <p:spPr>
          <a:xfrm>
            <a:off x="228600" y="4767263"/>
            <a:ext cx="8167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pt-BR" sz="1200" b="0" i="0" u="none" strike="noStrike" cap="none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202</a:t>
            </a:r>
            <a:r>
              <a:rPr lang="pt-BR" sz="1200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r>
              <a:rPr lang="pt-BR" sz="1200" b="0" i="0" u="none" strike="noStrike" cap="none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 | Confidencial - Este documento é uma cópia controlada e todos os seus direitos estão reservados</a:t>
            </a:r>
            <a:endParaRPr sz="14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2" name="Google Shape;182;p28"/>
          <p:cNvPicPr preferRelativeResize="0"/>
          <p:nvPr/>
        </p:nvPicPr>
        <p:blipFill rotWithShape="1">
          <a:blip r:embed="rId4">
            <a:alphaModFix/>
          </a:blip>
          <a:srcRect b="44376"/>
          <a:stretch/>
        </p:blipFill>
        <p:spPr>
          <a:xfrm>
            <a:off x="545225" y="836650"/>
            <a:ext cx="6774375" cy="2048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8"/>
          <p:cNvPicPr preferRelativeResize="0"/>
          <p:nvPr/>
        </p:nvPicPr>
        <p:blipFill rotWithShape="1">
          <a:blip r:embed="rId4">
            <a:alphaModFix/>
          </a:blip>
          <a:srcRect l="7961" t="55689"/>
          <a:stretch/>
        </p:blipFill>
        <p:spPr>
          <a:xfrm>
            <a:off x="814816" y="3022217"/>
            <a:ext cx="6235191" cy="1631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" name="Google Shape;190;p29"/>
          <p:cNvCxnSpPr/>
          <p:nvPr/>
        </p:nvCxnSpPr>
        <p:spPr>
          <a:xfrm>
            <a:off x="0" y="423863"/>
            <a:ext cx="7021500" cy="1200"/>
          </a:xfrm>
          <a:prstGeom prst="straightConnector1">
            <a:avLst/>
          </a:prstGeom>
          <a:noFill/>
          <a:ln w="25550" cap="sq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160" dir="5400000">
              <a:srgbClr val="000000">
                <a:alpha val="37250"/>
              </a:srgbClr>
            </a:outerShdw>
          </a:effectLst>
        </p:spPr>
      </p:cxnSp>
      <p:pic>
        <p:nvPicPr>
          <p:cNvPr id="191" name="Google Shape;191;p29"/>
          <p:cNvPicPr preferRelativeResize="0"/>
          <p:nvPr/>
        </p:nvPicPr>
        <p:blipFill rotWithShape="1">
          <a:blip r:embed="rId3">
            <a:alphaModFix/>
          </a:blip>
          <a:srcRect l="32354" r="33332" b="46854"/>
          <a:stretch/>
        </p:blipFill>
        <p:spPr>
          <a:xfrm>
            <a:off x="8132762" y="-64294"/>
            <a:ext cx="976312" cy="1059656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9"/>
          <p:cNvSpPr txBox="1"/>
          <p:nvPr/>
        </p:nvSpPr>
        <p:spPr>
          <a:xfrm>
            <a:off x="6518275" y="4702969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9"/>
          <p:cNvSpPr txBox="1"/>
          <p:nvPr/>
        </p:nvSpPr>
        <p:spPr>
          <a:xfrm>
            <a:off x="115877" y="72625"/>
            <a:ext cx="5941800" cy="6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F6228"/>
              </a:buClr>
              <a:buSzPts val="1800"/>
              <a:buFont typeface="Balthazar"/>
              <a:buNone/>
            </a:pPr>
            <a:r>
              <a:rPr lang="pt-BR" sz="1800" b="1">
                <a:solidFill>
                  <a:srgbClr val="4F6228"/>
                </a:solidFill>
                <a:latin typeface="Montserrat"/>
                <a:ea typeface="Montserrat"/>
                <a:cs typeface="Montserrat"/>
                <a:sym typeface="Montserrat"/>
              </a:rPr>
              <a:t>Projetos Anteriores </a:t>
            </a:r>
            <a:endParaRPr sz="1800" b="1">
              <a:solidFill>
                <a:srgbClr val="4F622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F6228"/>
              </a:buClr>
              <a:buSzPts val="1800"/>
              <a:buFont typeface="Balthazar"/>
              <a:buNone/>
            </a:pPr>
            <a:r>
              <a:rPr lang="pt-BR" sz="1800" b="1">
                <a:solidFill>
                  <a:srgbClr val="4F6228"/>
                </a:solidFill>
                <a:latin typeface="Montserrat"/>
                <a:ea typeface="Montserrat"/>
                <a:cs typeface="Montserrat"/>
                <a:sym typeface="Montserrat"/>
              </a:rPr>
              <a:t> 	Embalagens para e-commerce 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4" name="Google Shape;194;p29"/>
          <p:cNvPicPr preferRelativeResize="0"/>
          <p:nvPr/>
        </p:nvPicPr>
        <p:blipFill rotWithShape="1">
          <a:blip r:embed="rId4">
            <a:alphaModFix/>
          </a:blip>
          <a:srcRect l="10201" t="24002" b="5322"/>
          <a:stretch/>
        </p:blipFill>
        <p:spPr>
          <a:xfrm>
            <a:off x="206375" y="958453"/>
            <a:ext cx="4538664" cy="3634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9"/>
          <p:cNvPicPr preferRelativeResize="0"/>
          <p:nvPr/>
        </p:nvPicPr>
        <p:blipFill rotWithShape="1">
          <a:blip r:embed="rId5">
            <a:alphaModFix/>
          </a:blip>
          <a:srcRect l="26480" t="25330" r="21055" b="13324"/>
          <a:stretch/>
        </p:blipFill>
        <p:spPr>
          <a:xfrm>
            <a:off x="5251450" y="1354931"/>
            <a:ext cx="2651123" cy="3155156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9"/>
          <p:cNvSpPr txBox="1"/>
          <p:nvPr/>
        </p:nvSpPr>
        <p:spPr>
          <a:xfrm>
            <a:off x="228600" y="4767263"/>
            <a:ext cx="8167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pt-BR" sz="1200" b="0" i="0" u="none" strike="noStrike" cap="none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202</a:t>
            </a:r>
            <a:r>
              <a:rPr lang="pt-BR" sz="1200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r>
              <a:rPr lang="pt-BR" sz="1200" b="0" i="0" u="none" strike="noStrike" cap="none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 | Confidencial - Este documento é uma cópia controlada e todos os seus direitos estão reservados</a:t>
            </a:r>
            <a:endParaRPr sz="14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30"/>
          <p:cNvPicPr preferRelativeResize="0"/>
          <p:nvPr/>
        </p:nvPicPr>
        <p:blipFill rotWithShape="1">
          <a:blip r:embed="rId3">
            <a:alphaModFix/>
          </a:blip>
          <a:srcRect l="31616" t="2759" r="28883" b="45479"/>
          <a:stretch/>
        </p:blipFill>
        <p:spPr>
          <a:xfrm>
            <a:off x="8533950" y="56690"/>
            <a:ext cx="610050" cy="745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0"/>
          <p:cNvSpPr txBox="1"/>
          <p:nvPr/>
        </p:nvSpPr>
        <p:spPr>
          <a:xfrm>
            <a:off x="124076" y="60775"/>
            <a:ext cx="824310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395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b="1">
                <a:solidFill>
                  <a:srgbClr val="468A1A"/>
                </a:solidFill>
              </a:rPr>
              <a:t>Fazemos a embalagem mais sustentável do Brasil </a:t>
            </a:r>
            <a:endParaRPr sz="2500" b="1" i="0" u="none" strike="noStrike" cap="none">
              <a:solidFill>
                <a:srgbClr val="468A1A"/>
              </a:solidFill>
            </a:endParaRPr>
          </a:p>
        </p:txBody>
      </p:sp>
      <p:sp>
        <p:nvSpPr>
          <p:cNvPr id="203" name="Google Shape;203;p30"/>
          <p:cNvSpPr txBox="1"/>
          <p:nvPr/>
        </p:nvSpPr>
        <p:spPr>
          <a:xfrm>
            <a:off x="834300" y="4719600"/>
            <a:ext cx="35622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393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 strike="noStrike" cap="none">
                <a:solidFill>
                  <a:srgbClr val="395511"/>
                </a:solidFill>
                <a:latin typeface="Arial"/>
                <a:ea typeface="Arial"/>
                <a:cs typeface="Arial"/>
                <a:sym typeface="Arial"/>
              </a:rPr>
              <a:t>Valores obtidos usando a ferramenta Paper Calculator (https://c.environmentalpaper.org) e valores de literatura</a:t>
            </a:r>
            <a:endParaRPr sz="1100" b="0" i="0" u="none" strike="noStrike" cap="none">
              <a:solidFill>
                <a:srgbClr val="39551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938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rgbClr val="3955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0"/>
          <p:cNvSpPr txBox="1"/>
          <p:nvPr/>
        </p:nvSpPr>
        <p:spPr>
          <a:xfrm>
            <a:off x="5429400" y="902675"/>
            <a:ext cx="3427800" cy="31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i="0" u="none" strike="noStrike" cap="none">
                <a:solidFill>
                  <a:srgbClr val="395511"/>
                </a:solidFill>
                <a:latin typeface="Montserrat"/>
                <a:ea typeface="Montserrat"/>
                <a:cs typeface="Montserrat"/>
                <a:sym typeface="Montserrat"/>
              </a:rPr>
              <a:t>Reciclado* (pré-uso)</a:t>
            </a:r>
            <a:endParaRPr sz="1500" b="1" i="0" u="none" strike="noStrike" cap="none">
              <a:solidFill>
                <a:srgbClr val="39551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i="0" u="none" strike="noStrike" cap="none">
                <a:solidFill>
                  <a:srgbClr val="395511"/>
                </a:solidFill>
                <a:latin typeface="Montserrat"/>
                <a:ea typeface="Montserrat"/>
                <a:cs typeface="Montserrat"/>
                <a:sym typeface="Montserrat"/>
              </a:rPr>
              <a:t>Recicláveis</a:t>
            </a:r>
            <a:endParaRPr sz="1500" b="1" i="0" u="none" strike="noStrike" cap="none">
              <a:solidFill>
                <a:srgbClr val="39551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i="0" u="none" strike="noStrike" cap="none">
                <a:solidFill>
                  <a:srgbClr val="395511"/>
                </a:solidFill>
                <a:latin typeface="Montserrat"/>
                <a:ea typeface="Montserrat"/>
                <a:cs typeface="Montserrat"/>
                <a:sym typeface="Montserrat"/>
              </a:rPr>
              <a:t>Compostáveis</a:t>
            </a:r>
            <a:endParaRPr sz="1500" b="1" i="0" u="none" strike="noStrike" cap="none">
              <a:solidFill>
                <a:srgbClr val="39551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i="0" u="none" strike="noStrike" cap="none">
                <a:solidFill>
                  <a:srgbClr val="395511"/>
                </a:solidFill>
                <a:latin typeface="Montserrat"/>
                <a:ea typeface="Montserrat"/>
                <a:cs typeface="Montserrat"/>
                <a:sym typeface="Montserrat"/>
              </a:rPr>
              <a:t>Biodegradáveis</a:t>
            </a:r>
            <a:endParaRPr sz="1500" b="1" i="0" u="none" strike="noStrike" cap="none">
              <a:solidFill>
                <a:srgbClr val="39551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i="0" u="none" strike="noStrike" cap="none">
                <a:solidFill>
                  <a:srgbClr val="395511"/>
                </a:solidFill>
                <a:latin typeface="Montserrat"/>
                <a:ea typeface="Montserrat"/>
                <a:cs typeface="Montserrat"/>
                <a:sym typeface="Montserrat"/>
              </a:rPr>
              <a:t>Descarbonizados** </a:t>
            </a:r>
            <a:r>
              <a:rPr lang="pt-BR" sz="1300" i="0" u="none" strike="noStrike" cap="none">
                <a:solidFill>
                  <a:srgbClr val="395511"/>
                </a:solidFill>
                <a:latin typeface="Montserrat"/>
                <a:ea typeface="Montserrat"/>
                <a:cs typeface="Montserrat"/>
                <a:sym typeface="Montserrat"/>
              </a:rPr>
              <a:t>(em progresso)</a:t>
            </a:r>
            <a:endParaRPr sz="1300" i="0" u="none" strike="noStrike" cap="none">
              <a:solidFill>
                <a:srgbClr val="39551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i="0" u="none" strike="noStrike" cap="none">
                <a:solidFill>
                  <a:srgbClr val="395511"/>
                </a:solidFill>
                <a:latin typeface="Montserrat"/>
                <a:ea typeface="Montserrat"/>
                <a:cs typeface="Montserrat"/>
                <a:sym typeface="Montserrat"/>
              </a:rPr>
              <a:t>Baixo Carbono</a:t>
            </a:r>
            <a:endParaRPr sz="1500" b="1" i="0" u="none" strike="noStrike" cap="none">
              <a:solidFill>
                <a:srgbClr val="39551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>
                <a:solidFill>
                  <a:srgbClr val="395511"/>
                </a:solidFill>
                <a:latin typeface="Montserrat"/>
                <a:ea typeface="Montserrat"/>
                <a:cs typeface="Montserrat"/>
                <a:sym typeface="Montserrat"/>
              </a:rPr>
              <a:t>Operação em Região Vulnerável</a:t>
            </a:r>
            <a:endParaRPr sz="1500" b="1">
              <a:solidFill>
                <a:srgbClr val="39551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i="0" u="none" strike="noStrike" cap="none">
              <a:solidFill>
                <a:srgbClr val="395511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4">
            <a:alphaModFix/>
          </a:blip>
          <a:srcRect l="942" t="16146" r="48688" b="11190"/>
          <a:stretch/>
        </p:blipFill>
        <p:spPr>
          <a:xfrm>
            <a:off x="352425" y="832763"/>
            <a:ext cx="4951801" cy="3747394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0"/>
          <p:cNvSpPr txBox="1">
            <a:spLocks noGrp="1"/>
          </p:cNvSpPr>
          <p:nvPr>
            <p:ph type="sldNum" idx="12"/>
          </p:nvPr>
        </p:nvSpPr>
        <p:spPr>
          <a:xfrm>
            <a:off x="7944650" y="4929069"/>
            <a:ext cx="1065000" cy="181200"/>
          </a:xfrm>
          <a:prstGeom prst="rect">
            <a:avLst/>
          </a:prstGeom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" name="Google Shape;216;p31"/>
          <p:cNvCxnSpPr/>
          <p:nvPr/>
        </p:nvCxnSpPr>
        <p:spPr>
          <a:xfrm>
            <a:off x="90487" y="528638"/>
            <a:ext cx="7021500" cy="1200"/>
          </a:xfrm>
          <a:prstGeom prst="straightConnector1">
            <a:avLst/>
          </a:prstGeom>
          <a:noFill/>
          <a:ln w="25550" cap="sq" cmpd="sng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17" name="Google Shape;217;p31"/>
          <p:cNvSpPr/>
          <p:nvPr/>
        </p:nvSpPr>
        <p:spPr>
          <a:xfrm>
            <a:off x="6553200" y="476845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1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pt-BR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/>
          </a:p>
        </p:txBody>
      </p:sp>
      <p:pic>
        <p:nvPicPr>
          <p:cNvPr id="219" name="Google Shape;219;p31"/>
          <p:cNvPicPr preferRelativeResize="0"/>
          <p:nvPr/>
        </p:nvPicPr>
        <p:blipFill rotWithShape="1">
          <a:blip r:embed="rId3">
            <a:alphaModFix/>
          </a:blip>
          <a:srcRect l="32357" r="33331" b="46854"/>
          <a:stretch/>
        </p:blipFill>
        <p:spPr>
          <a:xfrm>
            <a:off x="8167687" y="0"/>
            <a:ext cx="976312" cy="1059656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1"/>
          <p:cNvSpPr txBox="1"/>
          <p:nvPr/>
        </p:nvSpPr>
        <p:spPr>
          <a:xfrm>
            <a:off x="76200" y="32150"/>
            <a:ext cx="79764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5511"/>
              </a:buClr>
              <a:buSzPts val="2600"/>
              <a:buFont typeface="Balthazar"/>
              <a:buNone/>
            </a:pPr>
            <a:r>
              <a:rPr lang="pt-BR" sz="2300" b="1">
                <a:solidFill>
                  <a:srgbClr val="395511"/>
                </a:solidFill>
                <a:latin typeface="Montserrat"/>
                <a:ea typeface="Montserrat"/>
                <a:cs typeface="Montserrat"/>
                <a:sym typeface="Montserrat"/>
              </a:rPr>
              <a:t>Novas frentes de produto - Curto/Médio Prazo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" name="Google Shape;221;p31"/>
          <p:cNvSpPr txBox="1"/>
          <p:nvPr/>
        </p:nvSpPr>
        <p:spPr>
          <a:xfrm>
            <a:off x="1460375" y="1035028"/>
            <a:ext cx="8305500" cy="38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rgbClr val="468A1A"/>
              </a:buClr>
              <a:buSzPts val="1800"/>
              <a:buFont typeface="Trebuchet MS"/>
              <a:buNone/>
            </a:pPr>
            <a:r>
              <a:rPr lang="pt-BR" b="1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FLV: </a:t>
            </a:r>
            <a:r>
              <a:rPr lang="pt-BR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Produtos Frescos - Em operação</a:t>
            </a:r>
            <a:endParaRPr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68A1A"/>
              </a:buClr>
              <a:buSzPts val="1800"/>
              <a:buFont typeface="Trebuchet MS"/>
              <a:buNone/>
            </a:pPr>
            <a:endParaRPr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rgbClr val="468A1A"/>
              </a:buClr>
              <a:buSzPts val="1800"/>
              <a:buFont typeface="Trebuchet MS"/>
              <a:buNone/>
            </a:pPr>
            <a:r>
              <a:rPr lang="pt-BR" b="1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FLV - úmidos (morango e Cogumelos):  </a:t>
            </a:r>
            <a:r>
              <a:rPr lang="pt-BR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Em desenvolvimento</a:t>
            </a:r>
            <a:endParaRPr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68A1A"/>
              </a:buClr>
              <a:buSzPts val="1800"/>
              <a:buFont typeface="Trebuchet MS"/>
              <a:buNone/>
            </a:pPr>
            <a:endParaRPr b="1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rgbClr val="468A1A"/>
              </a:buClr>
              <a:buSzPts val="1800"/>
              <a:buFont typeface="Trebuchet MS"/>
              <a:buNone/>
            </a:pPr>
            <a:r>
              <a:rPr lang="pt-BR" b="1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Forneáveis: </a:t>
            </a:r>
            <a:r>
              <a:rPr lang="pt-BR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Delivery/Varejo/Indústria - Em desenvolvimento</a:t>
            </a:r>
            <a:endParaRPr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rgbClr val="468A1A"/>
              </a:buClr>
              <a:buSzPts val="1800"/>
              <a:buFont typeface="Trebuchet MS"/>
              <a:buNone/>
            </a:pPr>
            <a:endParaRPr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68A1A"/>
              </a:buClr>
              <a:buSzPts val="1800"/>
              <a:buFont typeface="Trebuchet MS"/>
              <a:buNone/>
            </a:pPr>
            <a:endParaRPr b="1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68A1A"/>
              </a:buClr>
              <a:buSzPts val="1800"/>
              <a:buFont typeface="Trebuchet MS"/>
              <a:buNone/>
            </a:pPr>
            <a:endParaRPr b="1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rgbClr val="468A1A"/>
              </a:buClr>
              <a:buSzPts val="1800"/>
              <a:buFont typeface="Trebuchet MS"/>
              <a:buNone/>
            </a:pPr>
            <a:r>
              <a:rPr lang="pt-BR" b="1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Vasos Biodegradáveis: </a:t>
            </a:r>
            <a:r>
              <a:rPr lang="pt-BR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Hidroponia</a:t>
            </a:r>
            <a:r>
              <a:rPr lang="pt-BR" b="1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/</a:t>
            </a:r>
            <a:r>
              <a:rPr lang="pt-BR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Substituição do Cachepô plástico</a:t>
            </a:r>
            <a:endParaRPr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68A1A"/>
              </a:buClr>
              <a:buSzPts val="1800"/>
              <a:buFont typeface="Trebuchet MS"/>
              <a:buNone/>
            </a:pPr>
            <a:endParaRPr b="1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rgbClr val="468A1A"/>
              </a:buClr>
              <a:buSzPts val="1800"/>
              <a:buFont typeface="Trebuchet MS"/>
              <a:buNone/>
            </a:pPr>
            <a:r>
              <a:rPr lang="pt-BR" b="1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Tubetes (3 tipos):  </a:t>
            </a:r>
            <a:r>
              <a:rPr lang="pt-BR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Eucalipto, Pinus e Regeneração Florestal </a:t>
            </a:r>
            <a:endParaRPr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68A1A"/>
              </a:buClr>
              <a:buSzPts val="1800"/>
              <a:buFont typeface="Trebuchet MS"/>
              <a:buNone/>
            </a:pPr>
            <a:endParaRPr b="1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rgbClr val="468A1A"/>
              </a:buClr>
              <a:buSzPts val="1800"/>
              <a:buFont typeface="Trebuchet MS"/>
              <a:buNone/>
            </a:pPr>
            <a:r>
              <a:rPr lang="pt-BR" b="1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Sementeiras: </a:t>
            </a:r>
            <a:r>
              <a:rPr lang="pt-BR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Agricultura orgânica, silvicultura </a:t>
            </a:r>
            <a:endParaRPr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68A1A"/>
              </a:buClr>
              <a:buSzPts val="1800"/>
              <a:buFont typeface="Trebuchet MS"/>
              <a:buNone/>
            </a:pPr>
            <a:endParaRPr b="1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68A1A"/>
              </a:buClr>
              <a:buSzPts val="1800"/>
              <a:buFont typeface="Trebuchet MS"/>
              <a:buNone/>
            </a:pPr>
            <a:r>
              <a:rPr lang="pt-BR" b="1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	Coroas de plantio: </a:t>
            </a:r>
            <a:r>
              <a:rPr lang="pt-BR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Silvicultura, Recuperação Florestal </a:t>
            </a:r>
            <a:endParaRPr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68A1A"/>
              </a:buClr>
              <a:buSzPts val="1800"/>
              <a:buFont typeface="Trebuchet MS"/>
              <a:buNone/>
            </a:pPr>
            <a:endParaRPr b="1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68A1A"/>
              </a:buClr>
              <a:buSzPts val="1800"/>
              <a:buFont typeface="Trebuchet MS"/>
              <a:buNone/>
            </a:pPr>
            <a:endParaRPr b="1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68A1A"/>
              </a:buClr>
              <a:buSzPts val="1800"/>
              <a:buFont typeface="Trebuchet MS"/>
              <a:buNone/>
            </a:pPr>
            <a:endParaRPr b="1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68A1A"/>
              </a:buClr>
              <a:buSzPts val="1800"/>
              <a:buFont typeface="Trebuchet MS"/>
              <a:buNone/>
            </a:pPr>
            <a:endParaRPr b="1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68A1A"/>
              </a:buClr>
              <a:buSzPts val="1800"/>
              <a:buFont typeface="Trebuchet MS"/>
              <a:buNone/>
            </a:pPr>
            <a:endParaRPr b="1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p31"/>
          <p:cNvSpPr txBox="1"/>
          <p:nvPr/>
        </p:nvSpPr>
        <p:spPr>
          <a:xfrm>
            <a:off x="1565925" y="4767275"/>
            <a:ext cx="6564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pt-BR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r>
              <a:rPr lang="pt-BR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r>
              <a:rPr lang="pt-BR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 | Confidencial - Este documento é uma cópia controlada e todos os seus direitos estão reservados</a:t>
            </a:r>
            <a:endParaRPr/>
          </a:p>
        </p:txBody>
      </p:sp>
      <p:sp>
        <p:nvSpPr>
          <p:cNvPr id="223" name="Google Shape;223;p31"/>
          <p:cNvSpPr/>
          <p:nvPr/>
        </p:nvSpPr>
        <p:spPr>
          <a:xfrm>
            <a:off x="1803800" y="1035025"/>
            <a:ext cx="225000" cy="1146600"/>
          </a:xfrm>
          <a:prstGeom prst="leftBracket">
            <a:avLst>
              <a:gd name="adj" fmla="val 8333"/>
            </a:avLst>
          </a:prstGeom>
          <a:noFill/>
          <a:ln w="38100" cap="flat" cmpd="sng">
            <a:solidFill>
              <a:srgbClr val="3955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31"/>
          <p:cNvSpPr/>
          <p:nvPr/>
        </p:nvSpPr>
        <p:spPr>
          <a:xfrm>
            <a:off x="1893100" y="2666700"/>
            <a:ext cx="225000" cy="1697700"/>
          </a:xfrm>
          <a:prstGeom prst="leftBracket">
            <a:avLst>
              <a:gd name="adj" fmla="val 8333"/>
            </a:avLst>
          </a:prstGeom>
          <a:noFill/>
          <a:ln w="38100" cap="flat" cmpd="sng">
            <a:solidFill>
              <a:srgbClr val="3955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31"/>
          <p:cNvSpPr txBox="1"/>
          <p:nvPr/>
        </p:nvSpPr>
        <p:spPr>
          <a:xfrm>
            <a:off x="76200" y="1286425"/>
            <a:ext cx="166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EMBALAGENS</a:t>
            </a:r>
            <a:endParaRPr b="1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p31"/>
          <p:cNvSpPr txBox="1"/>
          <p:nvPr/>
        </p:nvSpPr>
        <p:spPr>
          <a:xfrm>
            <a:off x="656375" y="3173575"/>
            <a:ext cx="80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AGRO </a:t>
            </a:r>
            <a:endParaRPr b="1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32"/>
          <p:cNvPicPr preferRelativeResize="0"/>
          <p:nvPr/>
        </p:nvPicPr>
        <p:blipFill rotWithShape="1">
          <a:blip r:embed="rId3">
            <a:alphaModFix/>
          </a:blip>
          <a:srcRect l="32357" r="33331" b="46854"/>
          <a:stretch/>
        </p:blipFill>
        <p:spPr>
          <a:xfrm>
            <a:off x="8167687" y="0"/>
            <a:ext cx="976312" cy="1059656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2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pt-BR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/>
          </a:p>
        </p:txBody>
      </p:sp>
      <p:cxnSp>
        <p:nvCxnSpPr>
          <p:cNvPr id="235" name="Google Shape;235;p32"/>
          <p:cNvCxnSpPr/>
          <p:nvPr/>
        </p:nvCxnSpPr>
        <p:spPr>
          <a:xfrm>
            <a:off x="90487" y="528638"/>
            <a:ext cx="7021500" cy="1200"/>
          </a:xfrm>
          <a:prstGeom prst="straightConnector1">
            <a:avLst/>
          </a:prstGeom>
          <a:noFill/>
          <a:ln w="25550" cap="sq" cmpd="sng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36" name="Google Shape;236;p32"/>
          <p:cNvSpPr txBox="1"/>
          <p:nvPr/>
        </p:nvSpPr>
        <p:spPr>
          <a:xfrm>
            <a:off x="1565925" y="4767275"/>
            <a:ext cx="6564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pt-BR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r>
              <a:rPr lang="pt-BR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r>
              <a:rPr lang="pt-BR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 | Confidencial - Este documento é uma cópia controlada e todos os seus direitos estão reservados</a:t>
            </a:r>
            <a:endParaRPr/>
          </a:p>
        </p:txBody>
      </p:sp>
      <p:pic>
        <p:nvPicPr>
          <p:cNvPr id="237" name="Google Shape;23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751040"/>
            <a:ext cx="7862886" cy="3820871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2"/>
          <p:cNvSpPr txBox="1"/>
          <p:nvPr/>
        </p:nvSpPr>
        <p:spPr>
          <a:xfrm>
            <a:off x="142875" y="134540"/>
            <a:ext cx="76677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6228"/>
              </a:buClr>
              <a:buSzPts val="2400"/>
              <a:buFont typeface="Balthazar"/>
              <a:buNone/>
            </a:pPr>
            <a:r>
              <a:rPr lang="pt-BR" sz="2400" b="1" i="0" u="none">
                <a:solidFill>
                  <a:srgbClr val="4F6228"/>
                </a:solidFill>
                <a:latin typeface="Montserrat"/>
                <a:ea typeface="Montserrat"/>
                <a:cs typeface="Montserrat"/>
                <a:sym typeface="Montserrat"/>
              </a:rPr>
              <a:t>TUBETES BIO - </a:t>
            </a:r>
            <a:r>
              <a:rPr lang="pt-BR" sz="2400" b="1">
                <a:solidFill>
                  <a:srgbClr val="4F6228"/>
                </a:solidFill>
                <a:latin typeface="Montserrat"/>
                <a:ea typeface="Montserrat"/>
                <a:cs typeface="Montserrat"/>
                <a:sym typeface="Montserrat"/>
              </a:rPr>
              <a:t>O que temos até agora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33"/>
          <p:cNvPicPr preferRelativeResize="0"/>
          <p:nvPr/>
        </p:nvPicPr>
        <p:blipFill rotWithShape="1">
          <a:blip r:embed="rId3">
            <a:alphaModFix/>
          </a:blip>
          <a:srcRect l="32357" r="33331" b="46854"/>
          <a:stretch/>
        </p:blipFill>
        <p:spPr>
          <a:xfrm>
            <a:off x="8167687" y="0"/>
            <a:ext cx="976312" cy="1059656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3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pt-BR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/>
          </a:p>
        </p:txBody>
      </p:sp>
      <p:cxnSp>
        <p:nvCxnSpPr>
          <p:cNvPr id="247" name="Google Shape;247;p33"/>
          <p:cNvCxnSpPr/>
          <p:nvPr/>
        </p:nvCxnSpPr>
        <p:spPr>
          <a:xfrm>
            <a:off x="90487" y="528638"/>
            <a:ext cx="7021500" cy="1200"/>
          </a:xfrm>
          <a:prstGeom prst="straightConnector1">
            <a:avLst/>
          </a:prstGeom>
          <a:noFill/>
          <a:ln w="25550" cap="sq" cmpd="sng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48" name="Google Shape;248;p33"/>
          <p:cNvSpPr txBox="1"/>
          <p:nvPr/>
        </p:nvSpPr>
        <p:spPr>
          <a:xfrm>
            <a:off x="1565925" y="4767275"/>
            <a:ext cx="6564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pt-BR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r>
              <a:rPr lang="pt-BR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r>
              <a:rPr lang="pt-BR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 | Confidencial - Este documento é uma cópia controlada e todos os seus direitos estão reservados</a:t>
            </a:r>
            <a:endParaRPr/>
          </a:p>
        </p:txBody>
      </p:sp>
      <p:sp>
        <p:nvSpPr>
          <p:cNvPr id="249" name="Google Shape;249;p33"/>
          <p:cNvSpPr txBox="1"/>
          <p:nvPr/>
        </p:nvSpPr>
        <p:spPr>
          <a:xfrm>
            <a:off x="142875" y="134540"/>
            <a:ext cx="76677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6228"/>
              </a:buClr>
              <a:buSzPts val="2400"/>
              <a:buFont typeface="Balthazar"/>
              <a:buNone/>
            </a:pPr>
            <a:r>
              <a:rPr lang="pt-BR" sz="2400" b="1" i="0" u="none">
                <a:solidFill>
                  <a:srgbClr val="4F6228"/>
                </a:solidFill>
                <a:latin typeface="Montserrat"/>
                <a:ea typeface="Montserrat"/>
                <a:cs typeface="Montserrat"/>
                <a:sym typeface="Montserrat"/>
              </a:rPr>
              <a:t>TUBETES BIO </a:t>
            </a:r>
            <a:r>
              <a:rPr lang="pt-BR" sz="2400" b="1">
                <a:solidFill>
                  <a:srgbClr val="4F6228"/>
                </a:solidFill>
                <a:latin typeface="Montserrat"/>
                <a:ea typeface="Montserrat"/>
                <a:cs typeface="Montserrat"/>
                <a:sym typeface="Montserrat"/>
              </a:rPr>
              <a:t>- Sim, funciona !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0" name="Google Shape;250;p33"/>
          <p:cNvPicPr preferRelativeResize="0"/>
          <p:nvPr/>
        </p:nvPicPr>
        <p:blipFill rotWithShape="1">
          <a:blip r:embed="rId4">
            <a:alphaModFix/>
          </a:blip>
          <a:srcRect r="34245" b="18207"/>
          <a:stretch/>
        </p:blipFill>
        <p:spPr>
          <a:xfrm>
            <a:off x="1378725" y="717063"/>
            <a:ext cx="1847851" cy="408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3"/>
          <p:cNvPicPr preferRelativeResize="0"/>
          <p:nvPr/>
        </p:nvPicPr>
        <p:blipFill rotWithShape="1">
          <a:blip r:embed="rId5">
            <a:alphaModFix/>
          </a:blip>
          <a:srcRect l="26022" r="31464" b="37954"/>
          <a:stretch/>
        </p:blipFill>
        <p:spPr>
          <a:xfrm>
            <a:off x="4452951" y="1177152"/>
            <a:ext cx="3849674" cy="316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34"/>
          <p:cNvPicPr preferRelativeResize="0"/>
          <p:nvPr/>
        </p:nvPicPr>
        <p:blipFill rotWithShape="1">
          <a:blip r:embed="rId3">
            <a:alphaModFix/>
          </a:blip>
          <a:srcRect l="32357" r="33331" b="46854"/>
          <a:stretch/>
        </p:blipFill>
        <p:spPr>
          <a:xfrm>
            <a:off x="8167687" y="0"/>
            <a:ext cx="976312" cy="1059656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4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pt-BR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/>
          </a:p>
        </p:txBody>
      </p:sp>
      <p:sp>
        <p:nvSpPr>
          <p:cNvPr id="260" name="Google Shape;260;p34"/>
          <p:cNvSpPr txBox="1"/>
          <p:nvPr/>
        </p:nvSpPr>
        <p:spPr>
          <a:xfrm>
            <a:off x="6767512" y="2483644"/>
            <a:ext cx="1944600" cy="2106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pt-BR" sz="18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‘</a:t>
            </a:r>
            <a:endParaRPr/>
          </a:p>
        </p:txBody>
      </p:sp>
      <p:pic>
        <p:nvPicPr>
          <p:cNvPr id="261" name="Google Shape;261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08287" y="677465"/>
            <a:ext cx="3942160" cy="191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4"/>
          <p:cNvPicPr preferRelativeResize="0"/>
          <p:nvPr/>
        </p:nvPicPr>
        <p:blipFill rotWithShape="1">
          <a:blip r:embed="rId6">
            <a:alphaModFix/>
          </a:blip>
          <a:srcRect l="20203" r="35696"/>
          <a:stretch/>
        </p:blipFill>
        <p:spPr>
          <a:xfrm>
            <a:off x="12700" y="1915715"/>
            <a:ext cx="2795588" cy="2674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4"/>
          <p:cNvPicPr preferRelativeResize="0"/>
          <p:nvPr/>
        </p:nvPicPr>
        <p:blipFill rotWithShape="1">
          <a:blip r:embed="rId7">
            <a:alphaModFix/>
          </a:blip>
          <a:srcRect l="24141" r="27031" b="41128"/>
          <a:stretch/>
        </p:blipFill>
        <p:spPr>
          <a:xfrm>
            <a:off x="2808287" y="2570559"/>
            <a:ext cx="3959225" cy="201334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4" name="Google Shape;264;p34"/>
          <p:cNvCxnSpPr/>
          <p:nvPr/>
        </p:nvCxnSpPr>
        <p:spPr>
          <a:xfrm>
            <a:off x="90487" y="528638"/>
            <a:ext cx="7021500" cy="1200"/>
          </a:xfrm>
          <a:prstGeom prst="straightConnector1">
            <a:avLst/>
          </a:prstGeom>
          <a:noFill/>
          <a:ln w="25550" cap="sq" cmpd="sng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65" name="Google Shape;265;p34"/>
          <p:cNvSpPr txBox="1"/>
          <p:nvPr/>
        </p:nvSpPr>
        <p:spPr>
          <a:xfrm>
            <a:off x="1565925" y="4767275"/>
            <a:ext cx="6564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pt-BR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r>
              <a:rPr lang="pt-BR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r>
              <a:rPr lang="pt-BR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 | Confidencial - Este documento é uma cópia controlada e todos os seus direitos estão reservados</a:t>
            </a:r>
            <a:endParaRPr/>
          </a:p>
        </p:txBody>
      </p:sp>
      <p:sp>
        <p:nvSpPr>
          <p:cNvPr id="266" name="Google Shape;266;p34"/>
          <p:cNvSpPr txBox="1"/>
          <p:nvPr/>
        </p:nvSpPr>
        <p:spPr>
          <a:xfrm>
            <a:off x="142875" y="134540"/>
            <a:ext cx="76677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6228"/>
              </a:buClr>
              <a:buSzPts val="2400"/>
              <a:buFont typeface="Balthazar"/>
              <a:buNone/>
            </a:pPr>
            <a:r>
              <a:rPr lang="pt-BR" sz="2400" b="1" i="0" u="none">
                <a:solidFill>
                  <a:srgbClr val="4F6228"/>
                </a:solidFill>
                <a:latin typeface="Montserrat"/>
                <a:ea typeface="Montserrat"/>
                <a:cs typeface="Montserrat"/>
                <a:sym typeface="Montserrat"/>
              </a:rPr>
              <a:t>TUBETES BIO - </a:t>
            </a:r>
            <a:r>
              <a:rPr lang="pt-BR" sz="2400" b="1">
                <a:solidFill>
                  <a:srgbClr val="4F6228"/>
                </a:solidFill>
                <a:latin typeface="Montserrat"/>
                <a:ea typeface="Montserrat"/>
                <a:cs typeface="Montserrat"/>
                <a:sym typeface="Montserrat"/>
              </a:rPr>
              <a:t>O que temos até agora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35"/>
          <p:cNvPicPr preferRelativeResize="0"/>
          <p:nvPr/>
        </p:nvPicPr>
        <p:blipFill rotWithShape="1">
          <a:blip r:embed="rId3">
            <a:alphaModFix/>
          </a:blip>
          <a:srcRect l="32357" r="33331" b="46854"/>
          <a:stretch/>
        </p:blipFill>
        <p:spPr>
          <a:xfrm>
            <a:off x="8167687" y="0"/>
            <a:ext cx="976312" cy="1059656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5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pt-BR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/>
          </a:p>
        </p:txBody>
      </p:sp>
      <p:cxnSp>
        <p:nvCxnSpPr>
          <p:cNvPr id="275" name="Google Shape;275;p35"/>
          <p:cNvCxnSpPr/>
          <p:nvPr/>
        </p:nvCxnSpPr>
        <p:spPr>
          <a:xfrm>
            <a:off x="90487" y="528638"/>
            <a:ext cx="7021500" cy="1200"/>
          </a:xfrm>
          <a:prstGeom prst="straightConnector1">
            <a:avLst/>
          </a:prstGeom>
          <a:noFill/>
          <a:ln w="25550" cap="sq" cmpd="sng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76" name="Google Shape;276;p35"/>
          <p:cNvSpPr txBox="1"/>
          <p:nvPr/>
        </p:nvSpPr>
        <p:spPr>
          <a:xfrm>
            <a:off x="1565925" y="4767275"/>
            <a:ext cx="6564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pt-BR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r>
              <a:rPr lang="pt-BR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r>
              <a:rPr lang="pt-BR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 | Confidencial - Este documento é uma cópia controlada e todos os seus direitos estão reservados</a:t>
            </a:r>
            <a:endParaRPr/>
          </a:p>
        </p:txBody>
      </p:sp>
      <p:sp>
        <p:nvSpPr>
          <p:cNvPr id="277" name="Google Shape;277;p35"/>
          <p:cNvSpPr txBox="1"/>
          <p:nvPr/>
        </p:nvSpPr>
        <p:spPr>
          <a:xfrm>
            <a:off x="142875" y="134540"/>
            <a:ext cx="76677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6228"/>
              </a:buClr>
              <a:buSzPts val="2400"/>
              <a:buFont typeface="Balthazar"/>
              <a:buNone/>
            </a:pPr>
            <a:r>
              <a:rPr lang="pt-BR" sz="1900" b="1" i="0" u="none">
                <a:solidFill>
                  <a:srgbClr val="4F6228"/>
                </a:solidFill>
                <a:latin typeface="Montserrat"/>
                <a:ea typeface="Montserrat"/>
                <a:cs typeface="Montserrat"/>
                <a:sym typeface="Montserrat"/>
              </a:rPr>
              <a:t>TUBETES BIO - </a:t>
            </a:r>
            <a:r>
              <a:rPr lang="pt-BR" sz="1900" b="1">
                <a:solidFill>
                  <a:srgbClr val="4F6228"/>
                </a:solidFill>
                <a:latin typeface="Montserrat"/>
                <a:ea typeface="Montserrat"/>
                <a:cs typeface="Montserrat"/>
                <a:sym typeface="Montserrat"/>
              </a:rPr>
              <a:t>Sim, funciona, mas temos alguns desafios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8" name="Google Shape;27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9750" y="716640"/>
            <a:ext cx="2577903" cy="3863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2878" y="716640"/>
            <a:ext cx="2577903" cy="3863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70053" y="1212056"/>
            <a:ext cx="3321547" cy="2216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36"/>
          <p:cNvPicPr preferRelativeResize="0"/>
          <p:nvPr/>
        </p:nvPicPr>
        <p:blipFill rotWithShape="1">
          <a:blip r:embed="rId3">
            <a:alphaModFix/>
          </a:blip>
          <a:srcRect l="32357" r="33331" b="46854"/>
          <a:stretch/>
        </p:blipFill>
        <p:spPr>
          <a:xfrm>
            <a:off x="8167687" y="0"/>
            <a:ext cx="976312" cy="1059656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6"/>
          <p:cNvSpPr txBox="1"/>
          <p:nvPr/>
        </p:nvSpPr>
        <p:spPr>
          <a:xfrm>
            <a:off x="6553200" y="48434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pt-BR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/>
          </a:p>
        </p:txBody>
      </p:sp>
      <p:cxnSp>
        <p:nvCxnSpPr>
          <p:cNvPr id="289" name="Google Shape;289;p36"/>
          <p:cNvCxnSpPr/>
          <p:nvPr/>
        </p:nvCxnSpPr>
        <p:spPr>
          <a:xfrm>
            <a:off x="90487" y="528638"/>
            <a:ext cx="7021500" cy="1200"/>
          </a:xfrm>
          <a:prstGeom prst="straightConnector1">
            <a:avLst/>
          </a:prstGeom>
          <a:noFill/>
          <a:ln w="25550" cap="sq" cmpd="sng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90" name="Google Shape;290;p36"/>
          <p:cNvSpPr txBox="1"/>
          <p:nvPr/>
        </p:nvSpPr>
        <p:spPr>
          <a:xfrm>
            <a:off x="90475" y="4843475"/>
            <a:ext cx="8311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pt-BR" sz="1200" i="0" u="none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20</a:t>
            </a:r>
            <a:r>
              <a:rPr lang="pt-BR" sz="1200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25</a:t>
            </a:r>
            <a:r>
              <a:rPr lang="pt-BR" sz="1200" i="0" u="none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 | Confidencial - Este documento é uma cópia controlada e todos os seus direitos estão reservados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1" name="Google Shape;291;p36"/>
          <p:cNvSpPr txBox="1"/>
          <p:nvPr/>
        </p:nvSpPr>
        <p:spPr>
          <a:xfrm>
            <a:off x="142875" y="134540"/>
            <a:ext cx="76677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F6228"/>
              </a:buClr>
              <a:buSzPts val="2400"/>
              <a:buFont typeface="Balthazar"/>
              <a:buNone/>
            </a:pPr>
            <a:r>
              <a:rPr lang="pt-BR" sz="2100" b="1">
                <a:solidFill>
                  <a:srgbClr val="4F6228"/>
                </a:solidFill>
                <a:latin typeface="Montserrat"/>
                <a:ea typeface="Montserrat"/>
                <a:cs typeface="Montserrat"/>
                <a:sym typeface="Montserrat"/>
              </a:rPr>
              <a:t>Mini Vaso para Hidroponia - Testes preliminares</a:t>
            </a:r>
            <a:endParaRPr sz="2100" b="1">
              <a:solidFill>
                <a:srgbClr val="4F622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2" name="Google Shape;29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76540"/>
            <a:ext cx="2033176" cy="3614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37976" y="1076540"/>
            <a:ext cx="2033176" cy="3614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23551" y="1076540"/>
            <a:ext cx="2033168" cy="3614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09120" y="1212056"/>
            <a:ext cx="1956942" cy="3479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37"/>
          <p:cNvPicPr preferRelativeResize="0"/>
          <p:nvPr/>
        </p:nvPicPr>
        <p:blipFill rotWithShape="1">
          <a:blip r:embed="rId3">
            <a:alphaModFix/>
          </a:blip>
          <a:srcRect l="32357" r="33331" b="46854"/>
          <a:stretch/>
        </p:blipFill>
        <p:spPr>
          <a:xfrm>
            <a:off x="8167687" y="0"/>
            <a:ext cx="976312" cy="1059656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7"/>
          <p:cNvSpPr txBox="1"/>
          <p:nvPr/>
        </p:nvSpPr>
        <p:spPr>
          <a:xfrm>
            <a:off x="6553200" y="48434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pt-BR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/>
          </a:p>
        </p:txBody>
      </p:sp>
      <p:cxnSp>
        <p:nvCxnSpPr>
          <p:cNvPr id="304" name="Google Shape;304;p37"/>
          <p:cNvCxnSpPr/>
          <p:nvPr/>
        </p:nvCxnSpPr>
        <p:spPr>
          <a:xfrm>
            <a:off x="90487" y="528638"/>
            <a:ext cx="7021500" cy="1200"/>
          </a:xfrm>
          <a:prstGeom prst="straightConnector1">
            <a:avLst/>
          </a:prstGeom>
          <a:noFill/>
          <a:ln w="25550" cap="sq" cmpd="sng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05" name="Google Shape;305;p37"/>
          <p:cNvSpPr txBox="1"/>
          <p:nvPr/>
        </p:nvSpPr>
        <p:spPr>
          <a:xfrm>
            <a:off x="90475" y="4843475"/>
            <a:ext cx="8311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pt-BR" sz="1200" i="0" u="none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20</a:t>
            </a:r>
            <a:r>
              <a:rPr lang="pt-BR" sz="1200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25</a:t>
            </a:r>
            <a:r>
              <a:rPr lang="pt-BR" sz="1200" i="0" u="none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 | Confidencial - Este documento é uma cópia controlada e todos os seus direitos estão reservados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06" name="Google Shape;30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4900" y="1059640"/>
            <a:ext cx="2033176" cy="3614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28101" y="1059640"/>
            <a:ext cx="2033176" cy="3614534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7"/>
          <p:cNvSpPr txBox="1"/>
          <p:nvPr/>
        </p:nvSpPr>
        <p:spPr>
          <a:xfrm>
            <a:off x="142875" y="134540"/>
            <a:ext cx="76677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F6228"/>
              </a:buClr>
              <a:buSzPts val="2400"/>
              <a:buFont typeface="Balthazar"/>
              <a:buNone/>
            </a:pPr>
            <a:r>
              <a:rPr lang="pt-BR" sz="2100" b="1">
                <a:solidFill>
                  <a:srgbClr val="4F6228"/>
                </a:solidFill>
                <a:latin typeface="Montserrat"/>
                <a:ea typeface="Montserrat"/>
                <a:cs typeface="Montserrat"/>
                <a:sym typeface="Montserrat"/>
              </a:rPr>
              <a:t>Mini Vaso para Hidroponia - Testes preliminares</a:t>
            </a:r>
            <a:endParaRPr sz="2100" b="1">
              <a:solidFill>
                <a:srgbClr val="4F622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38"/>
          <p:cNvPicPr preferRelativeResize="0"/>
          <p:nvPr/>
        </p:nvPicPr>
        <p:blipFill rotWithShape="1">
          <a:blip r:embed="rId3">
            <a:alphaModFix/>
          </a:blip>
          <a:srcRect l="32357" r="33331" b="46854"/>
          <a:stretch/>
        </p:blipFill>
        <p:spPr>
          <a:xfrm>
            <a:off x="8167687" y="0"/>
            <a:ext cx="976312" cy="1059656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8"/>
          <p:cNvSpPr txBox="1"/>
          <p:nvPr/>
        </p:nvSpPr>
        <p:spPr>
          <a:xfrm>
            <a:off x="6553200" y="48434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pt-BR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/>
          </a:p>
        </p:txBody>
      </p:sp>
      <p:cxnSp>
        <p:nvCxnSpPr>
          <p:cNvPr id="317" name="Google Shape;317;p38"/>
          <p:cNvCxnSpPr/>
          <p:nvPr/>
        </p:nvCxnSpPr>
        <p:spPr>
          <a:xfrm>
            <a:off x="90487" y="528638"/>
            <a:ext cx="7021500" cy="1200"/>
          </a:xfrm>
          <a:prstGeom prst="straightConnector1">
            <a:avLst/>
          </a:prstGeom>
          <a:noFill/>
          <a:ln w="25550" cap="sq" cmpd="sng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18" name="Google Shape;318;p38"/>
          <p:cNvSpPr txBox="1"/>
          <p:nvPr/>
        </p:nvSpPr>
        <p:spPr>
          <a:xfrm>
            <a:off x="90475" y="4843475"/>
            <a:ext cx="8311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pt-BR" sz="1200" i="0" u="none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20</a:t>
            </a:r>
            <a:r>
              <a:rPr lang="pt-BR" sz="1200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25</a:t>
            </a:r>
            <a:r>
              <a:rPr lang="pt-BR" sz="1200" i="0" u="none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 | Confidencial - Este documento é uma cópia controlada e todos os seus direitos estão reservados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9" name="Google Shape;319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4900" y="1059640"/>
            <a:ext cx="2033176" cy="3614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28101" y="1059640"/>
            <a:ext cx="2033176" cy="3614534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8"/>
          <p:cNvSpPr txBox="1"/>
          <p:nvPr/>
        </p:nvSpPr>
        <p:spPr>
          <a:xfrm>
            <a:off x="142875" y="134540"/>
            <a:ext cx="76677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F6228"/>
              </a:buClr>
              <a:buSzPts val="2400"/>
              <a:buFont typeface="Balthazar"/>
              <a:buNone/>
            </a:pPr>
            <a:r>
              <a:rPr lang="pt-BR" sz="2100" b="1">
                <a:solidFill>
                  <a:srgbClr val="4F6228"/>
                </a:solidFill>
                <a:latin typeface="Montserrat"/>
                <a:ea typeface="Montserrat"/>
                <a:cs typeface="Montserrat"/>
                <a:sym typeface="Montserrat"/>
              </a:rPr>
              <a:t>Mini Vaso para Hidroponia - Testes preliminares</a:t>
            </a:r>
            <a:endParaRPr sz="2100" b="1">
              <a:solidFill>
                <a:srgbClr val="4F622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39"/>
          <p:cNvPicPr preferRelativeResize="0"/>
          <p:nvPr/>
        </p:nvPicPr>
        <p:blipFill rotWithShape="1">
          <a:blip r:embed="rId3">
            <a:alphaModFix/>
          </a:blip>
          <a:srcRect l="32357" r="33331" b="46854"/>
          <a:stretch/>
        </p:blipFill>
        <p:spPr>
          <a:xfrm>
            <a:off x="8167687" y="0"/>
            <a:ext cx="976312" cy="1059656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9"/>
          <p:cNvSpPr txBox="1"/>
          <p:nvPr/>
        </p:nvSpPr>
        <p:spPr>
          <a:xfrm>
            <a:off x="6553200" y="48434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pt-BR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/>
          </a:p>
        </p:txBody>
      </p:sp>
      <p:cxnSp>
        <p:nvCxnSpPr>
          <p:cNvPr id="330" name="Google Shape;330;p39"/>
          <p:cNvCxnSpPr/>
          <p:nvPr/>
        </p:nvCxnSpPr>
        <p:spPr>
          <a:xfrm>
            <a:off x="90487" y="528638"/>
            <a:ext cx="7021500" cy="1200"/>
          </a:xfrm>
          <a:prstGeom prst="straightConnector1">
            <a:avLst/>
          </a:prstGeom>
          <a:noFill/>
          <a:ln w="25550" cap="sq" cmpd="sng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31" name="Google Shape;331;p39"/>
          <p:cNvSpPr txBox="1"/>
          <p:nvPr/>
        </p:nvSpPr>
        <p:spPr>
          <a:xfrm>
            <a:off x="90475" y="4843475"/>
            <a:ext cx="8311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pt-BR" sz="1200" i="0" u="none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20</a:t>
            </a:r>
            <a:r>
              <a:rPr lang="pt-BR" sz="1200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25</a:t>
            </a:r>
            <a:r>
              <a:rPr lang="pt-BR" sz="1200" i="0" u="none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 | Confidencial - Este documento é uma cópia controlada e todos os seus direitos estão reservados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2" name="Google Shape;332;p39"/>
          <p:cNvSpPr txBox="1"/>
          <p:nvPr/>
        </p:nvSpPr>
        <p:spPr>
          <a:xfrm>
            <a:off x="142875" y="134540"/>
            <a:ext cx="76677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F6228"/>
              </a:buClr>
              <a:buSzPts val="2400"/>
              <a:buFont typeface="Balthazar"/>
              <a:buNone/>
            </a:pPr>
            <a:r>
              <a:rPr lang="pt-BR" sz="2100" b="1">
                <a:solidFill>
                  <a:srgbClr val="4F6228"/>
                </a:solidFill>
                <a:latin typeface="Montserrat"/>
                <a:ea typeface="Montserrat"/>
                <a:cs typeface="Montserrat"/>
                <a:sym typeface="Montserrat"/>
              </a:rPr>
              <a:t>Tubetes - Novos Formatos</a:t>
            </a:r>
            <a:endParaRPr sz="2100" b="1">
              <a:solidFill>
                <a:srgbClr val="4F622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3" name="Google Shape;333;p39" title="WhatsApp Image 2025-11-25 at 14.21.25 (1).jpeg"/>
          <p:cNvPicPr preferRelativeResize="0"/>
          <p:nvPr/>
        </p:nvPicPr>
        <p:blipFill rotWithShape="1">
          <a:blip r:embed="rId4">
            <a:alphaModFix/>
          </a:blip>
          <a:srcRect l="10616" t="23236" r="19218" b="23385"/>
          <a:stretch/>
        </p:blipFill>
        <p:spPr>
          <a:xfrm>
            <a:off x="381000" y="716675"/>
            <a:ext cx="2933699" cy="175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39" title="WhatsApp Image 2025-11-25 at 14.21.25 (2).jpeg"/>
          <p:cNvPicPr preferRelativeResize="0"/>
          <p:nvPr/>
        </p:nvPicPr>
        <p:blipFill rotWithShape="1">
          <a:blip r:embed="rId5">
            <a:alphaModFix/>
          </a:blip>
          <a:srcRect l="13502" t="25755" r="21083"/>
          <a:stretch/>
        </p:blipFill>
        <p:spPr>
          <a:xfrm>
            <a:off x="5600977" y="2615000"/>
            <a:ext cx="3295373" cy="2103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39" title="WhatsApp Image 2025-11-25 at 14.21.26.jpeg"/>
          <p:cNvPicPr preferRelativeResize="0"/>
          <p:nvPr/>
        </p:nvPicPr>
        <p:blipFill rotWithShape="1">
          <a:blip r:embed="rId6">
            <a:alphaModFix/>
          </a:blip>
          <a:srcRect l="9109" t="9016" r="17432"/>
          <a:stretch/>
        </p:blipFill>
        <p:spPr>
          <a:xfrm>
            <a:off x="338000" y="2615000"/>
            <a:ext cx="3019725" cy="2103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39" title="WhatsApp Image 2025-11-25 at 14.21.26 (1).jpeg"/>
          <p:cNvPicPr preferRelativeResize="0"/>
          <p:nvPr/>
        </p:nvPicPr>
        <p:blipFill rotWithShape="1">
          <a:blip r:embed="rId7">
            <a:alphaModFix/>
          </a:blip>
          <a:srcRect l="18440" r="19471"/>
          <a:stretch/>
        </p:blipFill>
        <p:spPr>
          <a:xfrm>
            <a:off x="3411125" y="716675"/>
            <a:ext cx="2321750" cy="2103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40"/>
          <p:cNvPicPr preferRelativeResize="0"/>
          <p:nvPr/>
        </p:nvPicPr>
        <p:blipFill rotWithShape="1">
          <a:blip r:embed="rId3">
            <a:alphaModFix/>
          </a:blip>
          <a:srcRect l="32357" r="33331" b="46854"/>
          <a:stretch/>
        </p:blipFill>
        <p:spPr>
          <a:xfrm>
            <a:off x="8167687" y="0"/>
            <a:ext cx="976312" cy="1059656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40"/>
          <p:cNvSpPr txBox="1"/>
          <p:nvPr/>
        </p:nvSpPr>
        <p:spPr>
          <a:xfrm>
            <a:off x="6553200" y="48434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pt-BR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/>
          </a:p>
        </p:txBody>
      </p:sp>
      <p:cxnSp>
        <p:nvCxnSpPr>
          <p:cNvPr id="345" name="Google Shape;345;p40"/>
          <p:cNvCxnSpPr/>
          <p:nvPr/>
        </p:nvCxnSpPr>
        <p:spPr>
          <a:xfrm>
            <a:off x="90487" y="528638"/>
            <a:ext cx="7021500" cy="1200"/>
          </a:xfrm>
          <a:prstGeom prst="straightConnector1">
            <a:avLst/>
          </a:prstGeom>
          <a:noFill/>
          <a:ln w="25550" cap="sq" cmpd="sng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46" name="Google Shape;346;p40"/>
          <p:cNvSpPr txBox="1"/>
          <p:nvPr/>
        </p:nvSpPr>
        <p:spPr>
          <a:xfrm>
            <a:off x="90475" y="4843475"/>
            <a:ext cx="8311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pt-BR" sz="1200" i="0" u="none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20</a:t>
            </a:r>
            <a:r>
              <a:rPr lang="pt-BR" sz="1200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25</a:t>
            </a:r>
            <a:r>
              <a:rPr lang="pt-BR" sz="1200" i="0" u="none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 | Confidencial - Este documento é uma cópia controlada e todos os seus direitos estão reservados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7" name="Google Shape;347;p40"/>
          <p:cNvSpPr txBox="1"/>
          <p:nvPr/>
        </p:nvSpPr>
        <p:spPr>
          <a:xfrm>
            <a:off x="142875" y="134540"/>
            <a:ext cx="76677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F6228"/>
              </a:buClr>
              <a:buSzPts val="2400"/>
              <a:buFont typeface="Balthazar"/>
              <a:buNone/>
            </a:pPr>
            <a:r>
              <a:rPr lang="pt-BR" sz="2100" b="1">
                <a:solidFill>
                  <a:srgbClr val="4F6228"/>
                </a:solidFill>
                <a:latin typeface="Montserrat"/>
                <a:ea typeface="Montserrat"/>
                <a:cs typeface="Montserrat"/>
                <a:sym typeface="Montserrat"/>
              </a:rPr>
              <a:t>Tubetes - Possibilidades de Múltiplos Tamanhos</a:t>
            </a:r>
            <a:endParaRPr sz="2100" b="1">
              <a:solidFill>
                <a:srgbClr val="4F622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48" name="Google Shape;348;p40" title="Tubetao_Grande_plastico_polpa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704840"/>
            <a:ext cx="2242257" cy="3986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1"/>
          <p:cNvSpPr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8" name="Google Shape;358;p41"/>
          <p:cNvCxnSpPr/>
          <p:nvPr/>
        </p:nvCxnSpPr>
        <p:spPr>
          <a:xfrm>
            <a:off x="90487" y="528638"/>
            <a:ext cx="7021500" cy="1200"/>
          </a:xfrm>
          <a:prstGeom prst="straightConnector1">
            <a:avLst/>
          </a:prstGeom>
          <a:noFill/>
          <a:ln w="25550" cap="sq" cmpd="sng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59" name="Google Shape;359;p41"/>
          <p:cNvSpPr/>
          <p:nvPr/>
        </p:nvSpPr>
        <p:spPr>
          <a:xfrm>
            <a:off x="6553200" y="476845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41"/>
          <p:cNvSpPr txBox="1"/>
          <p:nvPr/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pt-BR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/>
          </a:p>
        </p:txBody>
      </p:sp>
      <p:pic>
        <p:nvPicPr>
          <p:cNvPr id="361" name="Google Shape;361;p41"/>
          <p:cNvPicPr preferRelativeResize="0"/>
          <p:nvPr/>
        </p:nvPicPr>
        <p:blipFill rotWithShape="1">
          <a:blip r:embed="rId3">
            <a:alphaModFix/>
          </a:blip>
          <a:srcRect l="32357" r="33331" b="46854"/>
          <a:stretch/>
        </p:blipFill>
        <p:spPr>
          <a:xfrm>
            <a:off x="8167687" y="0"/>
            <a:ext cx="976312" cy="1059656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41"/>
          <p:cNvSpPr txBox="1"/>
          <p:nvPr/>
        </p:nvSpPr>
        <p:spPr>
          <a:xfrm>
            <a:off x="76200" y="32150"/>
            <a:ext cx="79764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5511"/>
              </a:buClr>
              <a:buSzPts val="2600"/>
              <a:buFont typeface="Balthazar"/>
              <a:buNone/>
            </a:pPr>
            <a:r>
              <a:rPr lang="pt-BR" sz="2300" b="1">
                <a:solidFill>
                  <a:srgbClr val="395511"/>
                </a:solidFill>
                <a:latin typeface="Montserrat"/>
                <a:ea typeface="Montserrat"/>
                <a:cs typeface="Montserrat"/>
                <a:sym typeface="Montserrat"/>
              </a:rPr>
              <a:t>Alvos primários - Aplicações Alvo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3" name="Google Shape;363;p41"/>
          <p:cNvSpPr txBox="1"/>
          <p:nvPr/>
        </p:nvSpPr>
        <p:spPr>
          <a:xfrm>
            <a:off x="1565925" y="4767275"/>
            <a:ext cx="6564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pt-BR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r>
              <a:rPr lang="pt-BR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r>
              <a:rPr lang="pt-BR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 | Confidencial - Este documento é uma cópia controlada e todos os seus direitos estão reservados</a:t>
            </a:r>
            <a:endParaRPr/>
          </a:p>
        </p:txBody>
      </p:sp>
      <p:sp>
        <p:nvSpPr>
          <p:cNvPr id="364" name="Google Shape;364;p41"/>
          <p:cNvSpPr/>
          <p:nvPr/>
        </p:nvSpPr>
        <p:spPr>
          <a:xfrm>
            <a:off x="1987623" y="984901"/>
            <a:ext cx="225000" cy="1357500"/>
          </a:xfrm>
          <a:prstGeom prst="leftBracket">
            <a:avLst>
              <a:gd name="adj" fmla="val 8333"/>
            </a:avLst>
          </a:prstGeom>
          <a:noFill/>
          <a:ln w="38100" cap="flat" cmpd="sng">
            <a:solidFill>
              <a:srgbClr val="3955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41"/>
          <p:cNvSpPr/>
          <p:nvPr/>
        </p:nvSpPr>
        <p:spPr>
          <a:xfrm>
            <a:off x="1993363" y="2616568"/>
            <a:ext cx="225000" cy="1697700"/>
          </a:xfrm>
          <a:prstGeom prst="leftBracket">
            <a:avLst>
              <a:gd name="adj" fmla="val 8333"/>
            </a:avLst>
          </a:prstGeom>
          <a:noFill/>
          <a:ln w="38100" cap="flat" cmpd="sng">
            <a:solidFill>
              <a:srgbClr val="3955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41"/>
          <p:cNvSpPr txBox="1"/>
          <p:nvPr/>
        </p:nvSpPr>
        <p:spPr>
          <a:xfrm>
            <a:off x="-24063" y="1286425"/>
            <a:ext cx="2048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Tubetes</a:t>
            </a:r>
            <a:endParaRPr b="1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Reflorestamento</a:t>
            </a:r>
            <a:endParaRPr b="1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7" name="Google Shape;367;p41"/>
          <p:cNvSpPr txBox="1"/>
          <p:nvPr/>
        </p:nvSpPr>
        <p:spPr>
          <a:xfrm>
            <a:off x="86345" y="3173575"/>
            <a:ext cx="1608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Mini Vasos </a:t>
            </a:r>
            <a:endParaRPr b="1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Hidroponia</a:t>
            </a:r>
            <a:endParaRPr b="1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8" name="Google Shape;368;p41"/>
          <p:cNvSpPr txBox="1"/>
          <p:nvPr/>
        </p:nvSpPr>
        <p:spPr>
          <a:xfrm>
            <a:off x="2088807" y="969195"/>
            <a:ext cx="56964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Embalagem de transporte para mudas pós viveiro</a:t>
            </a:r>
            <a:endParaRPr b="1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Mercado de bilhões de unidades/ano</a:t>
            </a:r>
            <a:endParaRPr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Objetivo 1</a:t>
            </a:r>
            <a:r>
              <a:rPr lang="pt-BR" b="1" baseline="30000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pt-BR" b="1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:  aumento de sobrevivência no campo </a:t>
            </a:r>
            <a:endParaRPr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9" name="Google Shape;369;p41"/>
          <p:cNvSpPr txBox="1"/>
          <p:nvPr/>
        </p:nvSpPr>
        <p:spPr>
          <a:xfrm>
            <a:off x="2055379" y="2666707"/>
            <a:ext cx="59637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Substituição de vaso plástico na hidroponia</a:t>
            </a:r>
            <a:endParaRPr b="1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Mercado de Milhões de unidades/ano</a:t>
            </a:r>
            <a:endParaRPr b="1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Base para o crescimento de hortaliças na hidroponia </a:t>
            </a:r>
            <a:endParaRPr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Objetivo 1</a:t>
            </a:r>
            <a:r>
              <a:rPr lang="pt-BR" b="1" baseline="30000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pt-BR" b="1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: substituição de plástico, redução de custos</a:t>
            </a:r>
            <a:endParaRPr b="1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9" name="Google Shape;239;p12"/>
          <p:cNvCxnSpPr/>
          <p:nvPr/>
        </p:nvCxnSpPr>
        <p:spPr>
          <a:xfrm>
            <a:off x="1191815" y="379810"/>
            <a:ext cx="5266134" cy="1190"/>
          </a:xfrm>
          <a:prstGeom prst="straightConnector1">
            <a:avLst/>
          </a:prstGeom>
          <a:noFill/>
          <a:ln w="25550" cap="sq" cmpd="sng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63500" dist="20160" dir="5400000">
              <a:srgbClr val="000000">
                <a:alpha val="37647"/>
              </a:srgbClr>
            </a:outerShdw>
          </a:effectLst>
        </p:spPr>
      </p:cxnSp>
      <p:pic>
        <p:nvPicPr>
          <p:cNvPr id="240" name="Google Shape;240;p12"/>
          <p:cNvPicPr preferRelativeResize="0"/>
          <p:nvPr/>
        </p:nvPicPr>
        <p:blipFill rotWithShape="1">
          <a:blip r:embed="rId3">
            <a:alphaModFix/>
          </a:blip>
          <a:srcRect l="32355" r="33332" b="46854"/>
          <a:stretch/>
        </p:blipFill>
        <p:spPr>
          <a:xfrm>
            <a:off x="7291388" y="-32146"/>
            <a:ext cx="732234" cy="1059656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2"/>
          <p:cNvSpPr txBox="1"/>
          <p:nvPr/>
        </p:nvSpPr>
        <p:spPr>
          <a:xfrm>
            <a:off x="6080522" y="4735116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Clr>
                  <a:srgbClr val="898989"/>
                </a:buClr>
                <a:buSzPts val="1200"/>
              </a:pPr>
              <a:t>15</a:t>
            </a:fld>
            <a:endParaRPr sz="1050"/>
          </a:p>
        </p:txBody>
      </p:sp>
      <p:sp>
        <p:nvSpPr>
          <p:cNvPr id="242" name="Google Shape;242;p12"/>
          <p:cNvSpPr txBox="1"/>
          <p:nvPr/>
        </p:nvSpPr>
        <p:spPr>
          <a:xfrm>
            <a:off x="1138238" y="102394"/>
            <a:ext cx="5697140" cy="832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 anchorCtr="0">
            <a:spAutoFit/>
          </a:bodyPr>
          <a:lstStyle/>
          <a:p>
            <a:pPr>
              <a:buClr>
                <a:srgbClr val="4F6228"/>
              </a:buClr>
              <a:buSzPts val="2200"/>
            </a:pPr>
            <a:r>
              <a:rPr lang="en-US" sz="1650" b="1">
                <a:solidFill>
                  <a:srgbClr val="4F6228"/>
                </a:solidFill>
                <a:latin typeface="Balthazar"/>
                <a:ea typeface="Balthazar"/>
                <a:cs typeface="Balthazar"/>
                <a:sym typeface="Balthazar"/>
              </a:rPr>
              <a:t>POLPA MOLDADA – Calço compressores</a:t>
            </a:r>
            <a:endParaRPr sz="1050"/>
          </a:p>
          <a:p>
            <a:pPr>
              <a:buClr>
                <a:srgbClr val="FFFFFF"/>
              </a:buClr>
              <a:buSzPts val="2200"/>
            </a:pPr>
            <a:endParaRPr sz="1650" b="1">
              <a:solidFill>
                <a:srgbClr val="4F6228"/>
              </a:solidFill>
              <a:latin typeface="Balthazar"/>
              <a:ea typeface="Balthazar"/>
              <a:cs typeface="Balthazar"/>
              <a:sym typeface="Balthazar"/>
            </a:endParaRPr>
          </a:p>
          <a:p>
            <a:pPr>
              <a:buClr>
                <a:srgbClr val="4F6228"/>
              </a:buClr>
              <a:buSzPts val="2200"/>
            </a:pPr>
            <a:r>
              <a:rPr lang="en-US" sz="1650" b="1">
                <a:solidFill>
                  <a:srgbClr val="4F6228"/>
                </a:solidFill>
                <a:latin typeface="Balthazar"/>
                <a:ea typeface="Balthazar"/>
                <a:cs typeface="Balthazar"/>
                <a:sym typeface="Balthazar"/>
              </a:rPr>
              <a:t>Calço de grande dimensão para equipamentos</a:t>
            </a:r>
            <a:endParaRPr sz="1050"/>
          </a:p>
        </p:txBody>
      </p:sp>
      <p:pic>
        <p:nvPicPr>
          <p:cNvPr id="243" name="Google Shape;243;p12"/>
          <p:cNvPicPr preferRelativeResize="0"/>
          <p:nvPr/>
        </p:nvPicPr>
        <p:blipFill rotWithShape="1">
          <a:blip r:embed="rId4">
            <a:alphaModFix/>
          </a:blip>
          <a:srcRect r="11993"/>
          <a:stretch/>
        </p:blipFill>
        <p:spPr>
          <a:xfrm>
            <a:off x="1759744" y="1254919"/>
            <a:ext cx="4800600" cy="3065859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2"/>
          <p:cNvSpPr txBox="1"/>
          <p:nvPr/>
        </p:nvSpPr>
        <p:spPr>
          <a:xfrm>
            <a:off x="1314450" y="4767263"/>
            <a:ext cx="6125625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 anchorCtr="0">
            <a:noAutofit/>
          </a:bodyPr>
          <a:lstStyle/>
          <a:p>
            <a:pPr algn="ctr">
              <a:buClr>
                <a:srgbClr val="898989"/>
              </a:buClr>
              <a:buSzPts val="1200"/>
            </a:pPr>
            <a:r>
              <a:rPr lang="en-US" sz="900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2023 | Confidencial - Este documento é uma cópia controlada e todos os seus direitos estão reservados</a:t>
            </a:r>
            <a:endParaRPr sz="105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4" name="Google Shape;214;p9"/>
          <p:cNvCxnSpPr/>
          <p:nvPr/>
        </p:nvCxnSpPr>
        <p:spPr>
          <a:xfrm>
            <a:off x="1143000" y="347663"/>
            <a:ext cx="5266134" cy="1190"/>
          </a:xfrm>
          <a:prstGeom prst="straightConnector1">
            <a:avLst/>
          </a:prstGeom>
          <a:noFill/>
          <a:ln w="25550" cap="sq" cmpd="sng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63500" dist="20160" dir="5400000">
              <a:srgbClr val="000000">
                <a:alpha val="37647"/>
              </a:srgbClr>
            </a:outerShdw>
          </a:effectLst>
        </p:spPr>
      </p:cxnSp>
      <p:pic>
        <p:nvPicPr>
          <p:cNvPr id="215" name="Google Shape;215;p9"/>
          <p:cNvPicPr preferRelativeResize="0"/>
          <p:nvPr/>
        </p:nvPicPr>
        <p:blipFill rotWithShape="1">
          <a:blip r:embed="rId3">
            <a:alphaModFix/>
          </a:blip>
          <a:srcRect l="32355" r="33332" b="46854"/>
          <a:stretch/>
        </p:blipFill>
        <p:spPr>
          <a:xfrm>
            <a:off x="7242572" y="-64293"/>
            <a:ext cx="732234" cy="1059656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9"/>
          <p:cNvSpPr txBox="1"/>
          <p:nvPr/>
        </p:nvSpPr>
        <p:spPr>
          <a:xfrm>
            <a:off x="6031706" y="4702969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900">
                <a:solidFill>
                  <a:srgbClr val="898989"/>
                </a:solidFill>
              </a:rPr>
              <a:pPr algn="r">
                <a:buClr>
                  <a:srgbClr val="898989"/>
                </a:buClr>
                <a:buSzPts val="1200"/>
              </a:pPr>
              <a:t>16</a:t>
            </a:fld>
            <a:endParaRPr sz="1050"/>
          </a:p>
        </p:txBody>
      </p:sp>
      <p:sp>
        <p:nvSpPr>
          <p:cNvPr id="217" name="Google Shape;217;p9"/>
          <p:cNvSpPr txBox="1"/>
          <p:nvPr/>
        </p:nvSpPr>
        <p:spPr>
          <a:xfrm>
            <a:off x="1344215" y="72628"/>
            <a:ext cx="5170884" cy="278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 anchorCtr="0">
            <a:spAutoFit/>
          </a:bodyPr>
          <a:lstStyle/>
          <a:p>
            <a:pPr>
              <a:buClr>
                <a:srgbClr val="4F6228"/>
              </a:buClr>
              <a:buSzPts val="1800"/>
            </a:pPr>
            <a:r>
              <a:rPr lang="en-US" sz="1350" b="1">
                <a:solidFill>
                  <a:srgbClr val="4F6228"/>
                </a:solidFill>
                <a:latin typeface="Balthazar"/>
                <a:ea typeface="Balthazar"/>
                <a:cs typeface="Balthazar"/>
                <a:sym typeface="Balthazar"/>
              </a:rPr>
              <a:t> – EMBALAGEM PARA VINHO</a:t>
            </a:r>
            <a:endParaRPr sz="1050"/>
          </a:p>
        </p:txBody>
      </p:sp>
      <p:pic>
        <p:nvPicPr>
          <p:cNvPr id="218" name="Google Shape;218;p9"/>
          <p:cNvPicPr preferRelativeResize="0"/>
          <p:nvPr/>
        </p:nvPicPr>
        <p:blipFill rotWithShape="1">
          <a:blip r:embed="rId4">
            <a:alphaModFix/>
          </a:blip>
          <a:srcRect l="10203" t="23999" b="5325"/>
          <a:stretch/>
        </p:blipFill>
        <p:spPr>
          <a:xfrm>
            <a:off x="1412081" y="653653"/>
            <a:ext cx="3403997" cy="3634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9"/>
          <p:cNvPicPr preferRelativeResize="0"/>
          <p:nvPr/>
        </p:nvPicPr>
        <p:blipFill rotWithShape="1">
          <a:blip r:embed="rId5">
            <a:alphaModFix/>
          </a:blip>
          <a:srcRect l="26480" t="25332" r="21055" b="13322"/>
          <a:stretch/>
        </p:blipFill>
        <p:spPr>
          <a:xfrm>
            <a:off x="5253038" y="1202532"/>
            <a:ext cx="1988344" cy="3155156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9"/>
          <p:cNvSpPr txBox="1"/>
          <p:nvPr/>
        </p:nvSpPr>
        <p:spPr>
          <a:xfrm>
            <a:off x="1314450" y="4767263"/>
            <a:ext cx="6125625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 anchorCtr="0">
            <a:noAutofit/>
          </a:bodyPr>
          <a:lstStyle/>
          <a:p>
            <a:pPr algn="ctr">
              <a:buClr>
                <a:srgbClr val="898989"/>
              </a:buClr>
              <a:buSzPts val="1200"/>
            </a:pPr>
            <a:r>
              <a:rPr lang="en-US" sz="900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2023 | Confidencial - Este documento é uma cópia controlada e todos os seus direitos estão reservados</a:t>
            </a:r>
            <a:endParaRPr sz="105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5" name="Google Shape;165;p6"/>
          <p:cNvCxnSpPr/>
          <p:nvPr/>
        </p:nvCxnSpPr>
        <p:spPr>
          <a:xfrm>
            <a:off x="1169194" y="411957"/>
            <a:ext cx="5266134" cy="1190"/>
          </a:xfrm>
          <a:prstGeom prst="straightConnector1">
            <a:avLst/>
          </a:prstGeom>
          <a:noFill/>
          <a:ln w="25550" cap="sq" cmpd="sng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63500" dist="20160" dir="5400000">
              <a:srgbClr val="000000">
                <a:alpha val="37647"/>
              </a:srgbClr>
            </a:outerShdw>
          </a:effectLst>
        </p:spPr>
      </p:cxnSp>
      <p:pic>
        <p:nvPicPr>
          <p:cNvPr id="166" name="Google Shape;166;p6"/>
          <p:cNvPicPr preferRelativeResize="0"/>
          <p:nvPr/>
        </p:nvPicPr>
        <p:blipFill rotWithShape="1">
          <a:blip r:embed="rId3">
            <a:alphaModFix/>
          </a:blip>
          <a:srcRect l="32355" r="33332" b="46854"/>
          <a:stretch/>
        </p:blipFill>
        <p:spPr>
          <a:xfrm>
            <a:off x="7268765" y="1"/>
            <a:ext cx="732234" cy="1059656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6"/>
          <p:cNvSpPr txBox="1"/>
          <p:nvPr/>
        </p:nvSpPr>
        <p:spPr>
          <a:xfrm>
            <a:off x="6057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Clr>
                  <a:srgbClr val="898989"/>
                </a:buClr>
                <a:buSzPts val="1200"/>
              </a:pPr>
              <a:t>17</a:t>
            </a:fld>
            <a:endParaRPr sz="1050"/>
          </a:p>
        </p:txBody>
      </p:sp>
      <p:pic>
        <p:nvPicPr>
          <p:cNvPr id="168" name="Google Shape;168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1" y="1179909"/>
            <a:ext cx="1810940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35894" y="2788444"/>
            <a:ext cx="3195638" cy="1358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01828" y="2780109"/>
            <a:ext cx="2372916" cy="1357313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6"/>
          <p:cNvSpPr txBox="1"/>
          <p:nvPr/>
        </p:nvSpPr>
        <p:spPr>
          <a:xfrm>
            <a:off x="1115616" y="134540"/>
            <a:ext cx="4050450" cy="32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 anchorCtr="0">
            <a:spAutoFit/>
          </a:bodyPr>
          <a:lstStyle/>
          <a:p>
            <a:pPr>
              <a:buClr>
                <a:srgbClr val="4F6228"/>
              </a:buClr>
              <a:buSzPts val="2200"/>
            </a:pPr>
            <a:r>
              <a:rPr lang="en-US" sz="1650" b="1">
                <a:solidFill>
                  <a:srgbClr val="4F6228"/>
                </a:solidFill>
                <a:latin typeface="Montserrat"/>
                <a:ea typeface="Montserrat"/>
                <a:cs typeface="Montserrat"/>
                <a:sym typeface="Montserrat"/>
              </a:rPr>
              <a:t>POLPA MOLDADA</a:t>
            </a:r>
            <a:endParaRPr sz="105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72" name="Google Shape;172;p6"/>
          <p:cNvGrpSpPr/>
          <p:nvPr/>
        </p:nvGrpSpPr>
        <p:grpSpPr>
          <a:xfrm>
            <a:off x="2102644" y="431006"/>
            <a:ext cx="3743325" cy="1013222"/>
            <a:chOff x="806" y="362"/>
            <a:chExt cx="3144" cy="851"/>
          </a:xfrm>
        </p:grpSpPr>
        <p:sp>
          <p:nvSpPr>
            <p:cNvPr id="173" name="Google Shape;173;p6"/>
            <p:cNvSpPr/>
            <p:nvPr/>
          </p:nvSpPr>
          <p:spPr>
            <a:xfrm>
              <a:off x="806" y="746"/>
              <a:ext cx="3062" cy="4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endParaRPr sz="1350">
                <a:solidFill>
                  <a:srgbClr val="FFFFFF"/>
                </a:solidFill>
              </a:endParaRPr>
            </a:p>
          </p:txBody>
        </p:sp>
        <p:sp>
          <p:nvSpPr>
            <p:cNvPr id="174" name="Google Shape;174;p6"/>
            <p:cNvSpPr txBox="1"/>
            <p:nvPr/>
          </p:nvSpPr>
          <p:spPr>
            <a:xfrm>
              <a:off x="950" y="362"/>
              <a:ext cx="3000" cy="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8769" tIns="138769" rIns="138769" bIns="0" anchor="t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rgbClr val="4F6228"/>
                </a:buClr>
                <a:buSzPts val="2600"/>
              </a:pPr>
              <a:r>
                <a:rPr lang="en-US" sz="1950" b="1">
                  <a:solidFill>
                    <a:srgbClr val="4F622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CALÇOS TÉCNICOS</a:t>
              </a:r>
              <a:endParaRPr sz="105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75" name="Google Shape;175;p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57600" y="1193007"/>
            <a:ext cx="1806178" cy="1358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90675" y="1193007"/>
            <a:ext cx="1806178" cy="1358503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 txBox="1"/>
          <p:nvPr/>
        </p:nvSpPr>
        <p:spPr>
          <a:xfrm>
            <a:off x="1314450" y="4767263"/>
            <a:ext cx="6125625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 anchorCtr="0">
            <a:noAutofit/>
          </a:bodyPr>
          <a:lstStyle/>
          <a:p>
            <a:pPr algn="ctr">
              <a:buClr>
                <a:srgbClr val="898989"/>
              </a:buClr>
              <a:buSzPts val="1200"/>
            </a:pPr>
            <a:r>
              <a:rPr lang="en-US" sz="900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2023 | Confidencial - Este documento é uma cópia controlada e todos os seus direitos estão reservados</a:t>
            </a:r>
            <a:endParaRPr sz="105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5" name="Google Shape;145;p22"/>
          <p:cNvCxnSpPr/>
          <p:nvPr/>
        </p:nvCxnSpPr>
        <p:spPr>
          <a:xfrm>
            <a:off x="0" y="423863"/>
            <a:ext cx="7021500" cy="1200"/>
          </a:xfrm>
          <a:prstGeom prst="straightConnector1">
            <a:avLst/>
          </a:prstGeom>
          <a:noFill/>
          <a:ln w="25550" cap="sq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160" dir="5400000">
              <a:srgbClr val="000000">
                <a:alpha val="37250"/>
              </a:srgbClr>
            </a:outerShdw>
          </a:effectLst>
        </p:spPr>
      </p:cxnSp>
      <p:pic>
        <p:nvPicPr>
          <p:cNvPr id="146" name="Google Shape;146;p22"/>
          <p:cNvPicPr preferRelativeResize="0"/>
          <p:nvPr/>
        </p:nvPicPr>
        <p:blipFill rotWithShape="1">
          <a:blip r:embed="rId3">
            <a:alphaModFix/>
          </a:blip>
          <a:srcRect l="32354" r="33332" b="46854"/>
          <a:stretch/>
        </p:blipFill>
        <p:spPr>
          <a:xfrm>
            <a:off x="8132762" y="-64294"/>
            <a:ext cx="976312" cy="105965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2"/>
          <p:cNvSpPr txBox="1"/>
          <p:nvPr/>
        </p:nvSpPr>
        <p:spPr>
          <a:xfrm>
            <a:off x="6518275" y="4702969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115877" y="72625"/>
            <a:ext cx="5941800" cy="6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F6228"/>
              </a:buClr>
              <a:buSzPts val="1800"/>
              <a:buFont typeface="Balthazar"/>
              <a:buNone/>
            </a:pPr>
            <a:r>
              <a:rPr lang="pt-BR" sz="1800" b="1">
                <a:solidFill>
                  <a:srgbClr val="4F6228"/>
                </a:solidFill>
                <a:latin typeface="Montserrat"/>
                <a:ea typeface="Montserrat"/>
                <a:cs typeface="Montserrat"/>
                <a:sym typeface="Montserrat"/>
              </a:rPr>
              <a:t>Cantoneiras de Proteção - Multi Função</a:t>
            </a:r>
            <a:endParaRPr sz="1800" b="1">
              <a:solidFill>
                <a:srgbClr val="4F622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F6228"/>
              </a:buClr>
              <a:buSzPts val="1800"/>
              <a:buFont typeface="Balthazar"/>
              <a:buNone/>
            </a:pPr>
            <a:r>
              <a:rPr lang="pt-BR" sz="1800" b="1">
                <a:solidFill>
                  <a:srgbClr val="4F6228"/>
                </a:solidFill>
                <a:latin typeface="Montserrat"/>
                <a:ea typeface="Montserrat"/>
                <a:cs typeface="Montserrat"/>
                <a:sym typeface="Montserrat"/>
              </a:rPr>
              <a:t>Dimensões sobre demanda</a:t>
            </a:r>
            <a:endParaRPr sz="1800" b="1">
              <a:solidFill>
                <a:srgbClr val="4F622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228600" y="4767263"/>
            <a:ext cx="8167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pt-BR" sz="1200" b="0" i="0" u="none" strike="noStrike" cap="none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202</a:t>
            </a:r>
            <a:r>
              <a:rPr lang="pt-BR" sz="1200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lang="pt-BR" sz="1200" b="0" i="0" u="none" strike="noStrike" cap="none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 | Confidencial - Este documento é uma cópia controlada e todos os seus direitos estão reservados</a:t>
            </a:r>
            <a:endParaRPr sz="14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0" name="Google Shape;15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875" y="762920"/>
            <a:ext cx="5149349" cy="192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841171"/>
            <a:ext cx="5042848" cy="1773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15286" y="839007"/>
            <a:ext cx="1712514" cy="177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39699" y="2765082"/>
            <a:ext cx="1723919" cy="1785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4" name="Google Shape;174;p24"/>
          <p:cNvCxnSpPr/>
          <p:nvPr/>
        </p:nvCxnSpPr>
        <p:spPr>
          <a:xfrm>
            <a:off x="0" y="423863"/>
            <a:ext cx="7021500" cy="1200"/>
          </a:xfrm>
          <a:prstGeom prst="straightConnector1">
            <a:avLst/>
          </a:prstGeom>
          <a:noFill/>
          <a:ln w="25550" cap="sq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160" dir="5400000">
              <a:srgbClr val="000000">
                <a:alpha val="37250"/>
              </a:srgbClr>
            </a:outerShdw>
          </a:effectLst>
        </p:spPr>
      </p:cxnSp>
      <p:pic>
        <p:nvPicPr>
          <p:cNvPr id="175" name="Google Shape;175;p24"/>
          <p:cNvPicPr preferRelativeResize="0"/>
          <p:nvPr/>
        </p:nvPicPr>
        <p:blipFill rotWithShape="1">
          <a:blip r:embed="rId3">
            <a:alphaModFix/>
          </a:blip>
          <a:srcRect l="32354" r="33332" b="46854"/>
          <a:stretch/>
        </p:blipFill>
        <p:spPr>
          <a:xfrm>
            <a:off x="8132762" y="-64294"/>
            <a:ext cx="976312" cy="1059656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4"/>
          <p:cNvSpPr txBox="1"/>
          <p:nvPr/>
        </p:nvSpPr>
        <p:spPr>
          <a:xfrm>
            <a:off x="6518275" y="4702969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4"/>
          <p:cNvSpPr txBox="1"/>
          <p:nvPr/>
        </p:nvSpPr>
        <p:spPr>
          <a:xfrm>
            <a:off x="228600" y="4767263"/>
            <a:ext cx="8167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pt-BR" sz="1200" b="0" i="0" u="none" strike="noStrike" cap="none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202</a:t>
            </a:r>
            <a:r>
              <a:rPr lang="pt-BR" sz="1200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lang="pt-BR" sz="1200" b="0" i="0" u="none" strike="noStrike" cap="none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 | Confidencial - Este documento é uma cópia controlada e todos os seus direitos estão reservados</a:t>
            </a:r>
            <a:endParaRPr sz="14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24"/>
          <p:cNvSpPr txBox="1"/>
          <p:nvPr/>
        </p:nvSpPr>
        <p:spPr>
          <a:xfrm>
            <a:off x="115874" y="72625"/>
            <a:ext cx="7757700" cy="3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F6228"/>
              </a:buClr>
              <a:buSzPts val="1800"/>
              <a:buFont typeface="Balthazar"/>
              <a:buNone/>
            </a:pPr>
            <a:r>
              <a:rPr lang="pt-BR" sz="1800" b="1">
                <a:solidFill>
                  <a:srgbClr val="4F6228"/>
                </a:solidFill>
                <a:latin typeface="Montserrat"/>
                <a:ea typeface="Montserrat"/>
                <a:cs typeface="Montserrat"/>
                <a:sym typeface="Montserrat"/>
              </a:rPr>
              <a:t>Calços Técnicos - Projeto, Ferramentaria e Hot Press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9" name="Google Shape;179;p24" title="WhatsApp Image 2026-04-07 at 12.27.45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96725"/>
            <a:ext cx="2795223" cy="1861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4" title="WhatsApp Image 2026-04-07 at 12.28.28.jpeg"/>
          <p:cNvPicPr preferRelativeResize="0"/>
          <p:nvPr/>
        </p:nvPicPr>
        <p:blipFill rotWithShape="1">
          <a:blip r:embed="rId5">
            <a:alphaModFix/>
          </a:blip>
          <a:srcRect t="13225"/>
          <a:stretch/>
        </p:blipFill>
        <p:spPr>
          <a:xfrm>
            <a:off x="3202038" y="444323"/>
            <a:ext cx="2082175" cy="240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4" title="WhatsApp Image 2026-04-07 at 12.28.31.jpeg"/>
          <p:cNvPicPr preferRelativeResize="0"/>
          <p:nvPr/>
        </p:nvPicPr>
        <p:blipFill rotWithShape="1">
          <a:blip r:embed="rId6">
            <a:alphaModFix/>
          </a:blip>
          <a:srcRect t="17953" b="9213"/>
          <a:stretch/>
        </p:blipFill>
        <p:spPr>
          <a:xfrm>
            <a:off x="5641675" y="617125"/>
            <a:ext cx="2133600" cy="2077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4" title="WhatsApp Image 2026-04-07 at 12.27.20 (16).jpeg"/>
          <p:cNvPicPr preferRelativeResize="0"/>
          <p:nvPr/>
        </p:nvPicPr>
        <p:blipFill rotWithShape="1">
          <a:blip r:embed="rId7">
            <a:alphaModFix/>
          </a:blip>
          <a:srcRect l="23904" t="16335" r="7995" b="11127"/>
          <a:stretch/>
        </p:blipFill>
        <p:spPr>
          <a:xfrm>
            <a:off x="115875" y="2885600"/>
            <a:ext cx="1820024" cy="1454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4" title="WhatsApp Image 2026-04-07 at 12.28.23.jpe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99169" y="2698444"/>
            <a:ext cx="1499607" cy="200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4" title="WhatsApp Image 2026-04-07 at 12.29.30.jpe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021500" y="2886374"/>
            <a:ext cx="1341675" cy="178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4" title="WhatsApp Image 2026-04-07 at 12.30.06.jpe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924220" y="2770100"/>
            <a:ext cx="1397105" cy="186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OI_THEME_TEMPLATE_DESIGN">
  <a:themeElements>
    <a:clrScheme name="POI_THEME_TEMPLATE_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OI_THEME_TEMPLATE_DESIGN">
  <a:themeElements>
    <a:clrScheme name="POI_THEME_TEMPLATE_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663</Words>
  <Application>Microsoft Office PowerPoint</Application>
  <PresentationFormat>Apresentação na tela (16:9)</PresentationFormat>
  <Paragraphs>128</Paragraphs>
  <Slides>19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19</vt:i4>
      </vt:variant>
    </vt:vector>
  </HeadingPairs>
  <TitlesOfParts>
    <vt:vector size="28" baseType="lpstr">
      <vt:lpstr>Arial</vt:lpstr>
      <vt:lpstr>Balthazar</vt:lpstr>
      <vt:lpstr>Noto Sans Symbols</vt:lpstr>
      <vt:lpstr>Trebuchet MS</vt:lpstr>
      <vt:lpstr>Montserrat</vt:lpstr>
      <vt:lpstr>Calibri</vt:lpstr>
      <vt:lpstr>Simple Light</vt:lpstr>
      <vt:lpstr>POI_THEME_TEMPLATE_DESIGN</vt:lpstr>
      <vt:lpstr>POI_THEME_TEMPLATE_DESIGN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silvano barbosa</cp:lastModifiedBy>
  <cp:revision>2</cp:revision>
  <dcterms:modified xsi:type="dcterms:W3CDTF">2026-04-30T03:19:44Z</dcterms:modified>
</cp:coreProperties>
</file>