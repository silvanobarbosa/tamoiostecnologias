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9144000"/>
  <p:notesSz cx="9144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3A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3657600" cy="3657600"/>
          </a:xfrm>
          <a:prstGeom prst="ellipse">
            <a:avLst/>
          </a:prstGeom>
          <a:solidFill>
            <a:srgbClr val="5E8838">
              <a:alpha val="20000"/>
            </a:srgbClr>
          </a:solidFill>
          <a:ln w="12700">
            <a:solidFill>
              <a:srgbClr val="5E883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0" y="7315200"/>
            <a:ext cx="4114800" cy="4114800"/>
          </a:xfrm>
          <a:prstGeom prst="ellipse">
            <a:avLst/>
          </a:prstGeom>
          <a:solidFill>
            <a:srgbClr val="0E3A24">
              <a:alpha val="15000"/>
            </a:srgbClr>
          </a:solidFill>
          <a:ln w="12700">
            <a:solidFill>
              <a:srgbClr val="5E883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54864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E88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spc="600" kern="0" dirty="0">
                <a:solidFill>
                  <a:srgbClr val="F8F2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TAMOIOS TECNOLOGIA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274320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400" b="1" dirty="0">
                <a:solidFill>
                  <a:srgbClr val="F8F2E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 isopor</a:t>
            </a:r>
            <a:endParaRPr lang="en-US" sz="8400" dirty="0"/>
          </a:p>
        </p:txBody>
      </p:sp>
      <p:sp>
        <p:nvSpPr>
          <p:cNvPr id="7" name="Text 5"/>
          <p:cNvSpPr/>
          <p:nvPr/>
        </p:nvSpPr>
        <p:spPr>
          <a:xfrm>
            <a:off x="548640" y="384048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400" i="1" dirty="0">
                <a:solidFill>
                  <a:srgbClr val="5E88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à polpa.</a:t>
            </a:r>
            <a:endParaRPr lang="en-US" sz="8400" dirty="0"/>
          </a:p>
        </p:txBody>
      </p:sp>
      <p:sp>
        <p:nvSpPr>
          <p:cNvPr id="8" name="Text 6"/>
          <p:cNvSpPr/>
          <p:nvPr/>
        </p:nvSpPr>
        <p:spPr>
          <a:xfrm>
            <a:off x="548640" y="5486400"/>
            <a:ext cx="8229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8F2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transição da embalagem brasileira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F8F2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biomassa — em 8 cartões.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548640" y="7498080"/>
            <a:ext cx="1645920" cy="54864"/>
          </a:xfrm>
          <a:prstGeom prst="rect">
            <a:avLst/>
          </a:prstGeom>
          <a:solidFill>
            <a:srgbClr val="5E8838"/>
          </a:solidFill>
          <a:ln w="12700">
            <a:solidFill>
              <a:srgbClr val="5E883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76809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5E8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ARRASTA →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864108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8F2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tamoios_tecnologia · tamoiostecnologia.com.br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2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E88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spc="600" kern="0" dirty="0">
                <a:solidFill>
                  <a:srgbClr val="7D5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problema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82296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0E3A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isopor não vai</a:t>
            </a:r>
            <a:endParaRPr lang="en-US" sz="5600" dirty="0"/>
          </a:p>
          <a:p>
            <a:pPr indent="0" marL="0">
              <a:buNone/>
            </a:pPr>
            <a:r>
              <a:rPr lang="en-US" sz="5600" b="1" dirty="0">
                <a:solidFill>
                  <a:srgbClr val="0E3A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embora — ele só some</a:t>
            </a:r>
            <a:endParaRPr lang="en-US" sz="5600" dirty="0"/>
          </a:p>
          <a:p>
            <a:pPr indent="0" marL="0">
              <a:buNone/>
            </a:pPr>
            <a:r>
              <a:rPr lang="en-US" sz="5600" b="1" dirty="0">
                <a:solidFill>
                  <a:srgbClr val="0E3A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vista.</a:t>
            </a:r>
            <a:endParaRPr lang="en-US" sz="5600" dirty="0"/>
          </a:p>
        </p:txBody>
      </p:sp>
      <p:sp>
        <p:nvSpPr>
          <p:cNvPr id="5" name="Shape 3"/>
          <p:cNvSpPr/>
          <p:nvPr/>
        </p:nvSpPr>
        <p:spPr>
          <a:xfrm>
            <a:off x="548640" y="5669280"/>
            <a:ext cx="73152" cy="2286000"/>
          </a:xfrm>
          <a:prstGeom prst="rect">
            <a:avLst/>
          </a:prstGeom>
          <a:solidFill>
            <a:srgbClr val="5E8838"/>
          </a:solidFill>
          <a:ln w="12700">
            <a:solidFill>
              <a:srgbClr val="5E883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5669280"/>
            <a:ext cx="768096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0E3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bandeja branca de supermercado leva até 500 anos para se decompor.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E3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95% do isopor descartado no Brasil nunca é reciclado — vira microplástico no solo, no mar e nos alimentos.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864108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E3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tamoios_tecnologia · tamoiostecnologia.com.br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0" y="859536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E3A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 / 08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959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BC8A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spc="600" kern="0" dirty="0">
                <a:solidFill>
                  <a:srgbClr val="F8F2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NÚMEROS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2194560"/>
            <a:ext cx="82296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0" b="1" dirty="0">
                <a:solidFill>
                  <a:srgbClr val="F8F2E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500</a:t>
            </a:r>
            <a:endParaRPr lang="en-US" sz="22000" dirty="0"/>
          </a:p>
        </p:txBody>
      </p:sp>
      <p:sp>
        <p:nvSpPr>
          <p:cNvPr id="5" name="Text 3"/>
          <p:cNvSpPr/>
          <p:nvPr/>
        </p:nvSpPr>
        <p:spPr>
          <a:xfrm>
            <a:off x="548640" y="493776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i="1" dirty="0">
                <a:solidFill>
                  <a:srgbClr val="DBC8A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anos para o isopor</a:t>
            </a:r>
            <a:endParaRPr lang="en-US" sz="3600" dirty="0"/>
          </a:p>
          <a:p>
            <a:pPr indent="0" marL="0">
              <a:buNone/>
            </a:pPr>
            <a:r>
              <a:rPr lang="en-US" sz="3600" i="1" dirty="0">
                <a:solidFill>
                  <a:srgbClr val="DBC8A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 decompor.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548640" y="6583680"/>
            <a:ext cx="8046720" cy="36576"/>
          </a:xfrm>
          <a:prstGeom prst="rect">
            <a:avLst/>
          </a:prstGeom>
          <a:solidFill>
            <a:srgbClr val="5E8838"/>
          </a:solidFill>
          <a:ln w="12700">
            <a:solidFill>
              <a:srgbClr val="5E883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85800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5E88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60 dias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548640" y="7406640"/>
            <a:ext cx="8046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8F2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o tempo que a polpa moldada Tamoios leva para voltar à terra.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864108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8F2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tamoios_tecnologia · tamoiostecnologia.com.br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772400" y="859536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8F2E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 / 08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2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40480" cy="9144000"/>
          </a:xfrm>
          <a:prstGeom prst="rect">
            <a:avLst/>
          </a:prstGeom>
          <a:solidFill>
            <a:srgbClr val="0E3A24"/>
          </a:solidFill>
          <a:ln w="12700">
            <a:solidFill>
              <a:srgbClr val="0E3A2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4864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E88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spc="600" kern="0" dirty="0">
                <a:solidFill>
                  <a:srgbClr val="F8F2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SOLUÇÃO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5029200"/>
            <a:ext cx="32004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8F2E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Biomassa.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8F2E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verdade.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4297680" y="2286000"/>
            <a:ext cx="448056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0E3A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Pegamos resíduos agroindustriais — cana, papel, fibras — e moldamos embalagens que substituem o isopor 1 a 1.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4297680" y="6858000"/>
            <a:ext cx="1371600" cy="54864"/>
          </a:xfrm>
          <a:prstGeom prst="rect">
            <a:avLst/>
          </a:prstGeom>
          <a:solidFill>
            <a:srgbClr val="5E8838"/>
          </a:solidFill>
          <a:ln w="12700">
            <a:solidFill>
              <a:srgbClr val="5E883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97680" y="7040880"/>
            <a:ext cx="4480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7D5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Mesma performance.</a:t>
            </a:r>
            <a:endParaRPr lang="en-US" sz="1600" dirty="0"/>
          </a:p>
          <a:p>
            <a:pPr indent="0" marL="0">
              <a:buNone/>
            </a:pPr>
            <a:r>
              <a:rPr lang="en-US" sz="1600" i="1" dirty="0">
                <a:solidFill>
                  <a:srgbClr val="7D5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Outro futuro.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864108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E3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tamoios_tecnologia · tamoiostecnologia.com.br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772400" y="859536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E3A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 / 08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2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E88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spc="600" kern="0" dirty="0">
                <a:solidFill>
                  <a:srgbClr val="7D5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LINHAS, 1 PROPÓSITO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0E3A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Onde a polpa</a:t>
            </a:r>
            <a:endParaRPr lang="en-US" sz="4600" dirty="0"/>
          </a:p>
          <a:p>
            <a:pPr indent="0" marL="0">
              <a:buNone/>
            </a:pPr>
            <a:r>
              <a:rPr lang="en-US" sz="4600" b="1" dirty="0">
                <a:solidFill>
                  <a:srgbClr val="0E3A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entra em cena.</a:t>
            </a:r>
            <a:endParaRPr lang="en-US" sz="4600" dirty="0"/>
          </a:p>
        </p:txBody>
      </p:sp>
      <p:sp>
        <p:nvSpPr>
          <p:cNvPr id="5" name="Shape 3"/>
          <p:cNvSpPr/>
          <p:nvPr/>
        </p:nvSpPr>
        <p:spPr>
          <a:xfrm>
            <a:off x="548640" y="4206240"/>
            <a:ext cx="91440" cy="1097280"/>
          </a:xfrm>
          <a:prstGeom prst="rect">
            <a:avLst/>
          </a:prstGeom>
          <a:solidFill>
            <a:srgbClr val="5E8838"/>
          </a:solidFill>
          <a:ln w="12700">
            <a:solidFill>
              <a:srgbClr val="5E883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420624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E88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645920" y="420624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3A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Bandejas FLV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645920" y="470916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D5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Substituem o isopor em frutas, legumes e verduras no varejo.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5577840"/>
            <a:ext cx="91440" cy="1097280"/>
          </a:xfrm>
          <a:prstGeom prst="rect">
            <a:avLst/>
          </a:prstGeom>
          <a:solidFill>
            <a:srgbClr val="5E8838"/>
          </a:solidFill>
          <a:ln w="12700">
            <a:solidFill>
              <a:srgbClr val="5E883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557784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E88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645920" y="557784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3A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Calços Técnicos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645920" y="608076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D5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Proteção e separação industrial em logística e autopeças.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6949440"/>
            <a:ext cx="91440" cy="1097280"/>
          </a:xfrm>
          <a:prstGeom prst="rect">
            <a:avLst/>
          </a:prstGeom>
          <a:solidFill>
            <a:srgbClr val="5E8838"/>
          </a:solidFill>
          <a:ln w="12700">
            <a:solidFill>
              <a:srgbClr val="5E883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694944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E88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645920" y="694944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3A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Agro &amp; Florestal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1645920" y="745236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D5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Tubetes e sementeiras biodegradáveis para mudas em escala.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57200" y="864108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E3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tamoios_tecnologia · tamoiostecnologia.com.br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772400" y="859536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E3A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 / 08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DBC8A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3A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spc="600" kern="0" dirty="0">
                <a:solidFill>
                  <a:srgbClr val="0E3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PROVA REAL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201168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E3A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Já estamos no chão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0E3A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quem move o país.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548640" y="457200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E8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457200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3A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Carrefour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754880" y="461772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7D5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ensaios em bandejas FLV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544068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E8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544068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3A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BNDES Garagem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754880" y="548640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7D5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rodada de inovação climática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8640" y="630936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E8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14400" y="630936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3A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Quintessa · Deep Climate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754880" y="635508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7D5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aceleração de impacto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48640" y="717804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E8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14400" y="717804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3A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Unicamp · Belterra · Irani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754880" y="722376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7D5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parcerias técnicas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57200" y="864108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E3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tamoios_tecnologia · tamoiostecnologia.com.br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772400" y="859536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E3A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 / 08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3A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3657600" cy="3657600"/>
          </a:xfrm>
          <a:prstGeom prst="ellipse">
            <a:avLst/>
          </a:prstGeom>
          <a:solidFill>
            <a:srgbClr val="5E8838">
              <a:alpha val="20000"/>
            </a:srgbClr>
          </a:solidFill>
          <a:ln w="12700">
            <a:solidFill>
              <a:srgbClr val="5E883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0" y="7315200"/>
            <a:ext cx="4114800" cy="4114800"/>
          </a:xfrm>
          <a:prstGeom prst="ellipse">
            <a:avLst/>
          </a:prstGeom>
          <a:solidFill>
            <a:srgbClr val="0E3A24">
              <a:alpha val="15000"/>
            </a:srgbClr>
          </a:solidFill>
          <a:ln w="12700">
            <a:solidFill>
              <a:srgbClr val="5E883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54864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E88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spc="600" kern="0" dirty="0">
                <a:solidFill>
                  <a:srgbClr val="F8F2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PORQUE IMPORTA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219456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8F2E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Embalagem</a:t>
            </a:r>
            <a:endParaRPr lang="en-US" sz="5400" dirty="0"/>
          </a:p>
          <a:p>
            <a:pPr indent="0" marL="0">
              <a:buNone/>
            </a:pPr>
            <a:r>
              <a:rPr lang="en-US" sz="5400" b="1" dirty="0">
                <a:solidFill>
                  <a:srgbClr val="F8F2E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 propósito</a:t>
            </a:r>
            <a:endParaRPr lang="en-US" sz="5400" dirty="0"/>
          </a:p>
          <a:p>
            <a:pPr indent="0" marL="0">
              <a:buNone/>
            </a:pPr>
            <a:r>
              <a:rPr lang="en-US" sz="5400" b="1" dirty="0">
                <a:solidFill>
                  <a:srgbClr val="F8F2E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não é estética —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548640" y="53035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i="1" dirty="0">
                <a:solidFill>
                  <a:srgbClr val="5E88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é decisão de cadeia.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548640" y="6766560"/>
            <a:ext cx="8046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BC8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bandeja Tamoios que entra numa gôndola tira do mar um pedaço de isopor que ficaria lá por meio milênio.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864108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8F2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tamoios_tecnologia · tamoiostecnologia.com.br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772400" y="859536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8F2E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 / 08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2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E88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spc="600" kern="0" dirty="0">
                <a:solidFill>
                  <a:srgbClr val="7D5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VAMOS CONVERSAR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2011680"/>
            <a:ext cx="82296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200" b="1" dirty="0">
                <a:solidFill>
                  <a:srgbClr val="0E3A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Quer trocar</a:t>
            </a:r>
            <a:endParaRPr lang="en-US" sz="6200" dirty="0"/>
          </a:p>
          <a:p>
            <a:pPr indent="0" marL="0">
              <a:buNone/>
            </a:pPr>
            <a:r>
              <a:rPr lang="en-US" sz="6200" b="1" dirty="0">
                <a:solidFill>
                  <a:srgbClr val="0E3A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isopor do</a:t>
            </a:r>
            <a:endParaRPr lang="en-US" sz="6200" dirty="0"/>
          </a:p>
          <a:p>
            <a:pPr indent="0" marL="0">
              <a:buNone/>
            </a:pPr>
            <a:r>
              <a:rPr lang="en-US" sz="6200" b="1" dirty="0">
                <a:solidFill>
                  <a:srgbClr val="0E3A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seu produto?</a:t>
            </a:r>
            <a:endParaRPr lang="en-US" sz="6200" dirty="0"/>
          </a:p>
        </p:txBody>
      </p:sp>
      <p:sp>
        <p:nvSpPr>
          <p:cNvPr id="5" name="Shape 3"/>
          <p:cNvSpPr/>
          <p:nvPr/>
        </p:nvSpPr>
        <p:spPr>
          <a:xfrm>
            <a:off x="548640" y="5669280"/>
            <a:ext cx="8046720" cy="54864"/>
          </a:xfrm>
          <a:prstGeom prst="rect">
            <a:avLst/>
          </a:prstGeom>
          <a:solidFill>
            <a:srgbClr val="5E8838"/>
          </a:solidFill>
          <a:ln w="12700">
            <a:solidFill>
              <a:srgbClr val="5E883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585216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959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  tamoiostecnologia.com.br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48640" y="658368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7D5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fernanda@tamoiostecnologia.com.br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8640" y="713232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7D5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+55 11 94006 6986   ·   @tamoios_tecnologia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48640" y="8046720"/>
            <a:ext cx="3657600" cy="54864"/>
          </a:xfrm>
          <a:prstGeom prst="rect">
            <a:avLst/>
          </a:prstGeom>
          <a:solidFill>
            <a:srgbClr val="7D5436"/>
          </a:solidFill>
          <a:ln w="12700">
            <a:solidFill>
              <a:srgbClr val="7D543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8229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600" kern="0" dirty="0">
                <a:solidFill>
                  <a:srgbClr val="7D5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TAMOIOS · ITARIRI/SP · BIOMASSA COM PROPÓSITO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2026-06-05T01:54:43Z</dcterms:created>
  <dcterms:modified xsi:type="dcterms:W3CDTF">2026-06-05T01:54:43Z</dcterms:modified>
</cp:coreProperties>
</file>