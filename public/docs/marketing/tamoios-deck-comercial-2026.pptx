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9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5C8A3A"/>
          </a:solidFill>
          <a:ln/>
        </p:spPr>
      </p:sp>
      <p:sp>
        <p:nvSpPr>
          <p:cNvPr id="3" name="Shape 1"/>
          <p:cNvSpPr/>
          <p:nvPr/>
        </p:nvSpPr>
        <p:spPr>
          <a:xfrm>
            <a:off x="7616952" y="-1828800"/>
            <a:ext cx="6400800" cy="6400800"/>
          </a:xfrm>
          <a:prstGeom prst="ellipse">
            <a:avLst/>
          </a:prstGeom>
          <a:solidFill>
            <a:srgbClr val="1A5638"/>
          </a:solidFill>
          <a:ln w="12700">
            <a:solidFill>
              <a:srgbClr val="1A56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88552" y="3200400"/>
            <a:ext cx="4572000" cy="4572000"/>
          </a:xfrm>
          <a:prstGeom prst="ellipse">
            <a:avLst/>
          </a:prstGeom>
          <a:solidFill>
            <a:srgbClr val="5C8A3A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D8C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TAMOIOS TECNOLOGIA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isopor à</a:t>
            </a:r>
            <a:endParaRPr lang="en-US" sz="6400" dirty="0"/>
          </a:p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polpa moldada.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D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Biomassa de alta densidade que substitui plástico em escala industrial — bandejas FLV, calços técnicos e tubetes agroflorestais 100% compostáveis.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5943600"/>
            <a:ext cx="1097280" cy="73152"/>
          </a:xfrm>
          <a:prstGeom prst="rect">
            <a:avLst/>
          </a:prstGeom>
          <a:solidFill>
            <a:srgbClr val="7BAF4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8C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Comercial ·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31352" y="6400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C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tamoiostecnologia.com.br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 milhões de toneladas de plástico de uso único.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ano. No mundo.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457200" cy="73152"/>
          </a:xfrm>
          <a:prstGeom prst="rect">
            <a:avLst/>
          </a:prstGeom>
          <a:solidFill>
            <a:srgbClr val="5C8A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38328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isopor (EPS) e os plásticos de uso único ainda dominam embalagens de hortifrúti, calçaria, mudas e logística — apesar de levarem séculos para se decompor, contaminarem solo e oceanos, e enfrentarem restrição regulatória crescente.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338328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5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2900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8M ton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418320" y="342900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plástico chegam aos oceanos por ano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0" y="429768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5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434340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450 anos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418320" y="434340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EPS se decompor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0" y="521208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5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525780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+30 países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418320" y="525780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restrições a plásticos de uso único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Tamoios Tecnologia · Deck Comercial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167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DF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natureza já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resolveu isso.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640080" y="3566160"/>
            <a:ext cx="1371600" cy="73152"/>
          </a:xfrm>
          <a:prstGeom prst="rect">
            <a:avLst/>
          </a:prstGeom>
          <a:solidFill>
            <a:srgbClr val="5C8A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9319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Fibras vegetais — bagaço de cana, bambu, palha de trigo — formam estruturas leves, resistentes e biodegradáveis. Bastava industrializar.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exatamente o que a Tamoios faz há mais de uma década.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Tamoios Tecnologia · Deck Comercial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167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SOMOS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Tamoios Tecnologia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Indústria brasileira pioneira em embalagens de polpa moldada de alta densidade.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457200" cy="73152"/>
          </a:xfrm>
          <a:prstGeom prst="rect">
            <a:avLst/>
          </a:prstGeom>
          <a:solidFill>
            <a:srgbClr val="5C8A3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834640"/>
            <a:ext cx="5303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5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834640"/>
            <a:ext cx="91440" cy="1463040"/>
          </a:xfrm>
          <a:prstGeom prst="rect">
            <a:avLst/>
          </a:prstGeom>
          <a:solidFill>
            <a:srgbClr val="5C8A3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17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 anos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6118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P&amp;D em biomassa de fibra curta e longa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834640"/>
            <a:ext cx="5303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5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2834640"/>
            <a:ext cx="91440" cy="1463040"/>
          </a:xfrm>
          <a:prstGeom prst="rect">
            <a:avLst/>
          </a:prstGeom>
          <a:solidFill>
            <a:srgbClr val="5C8A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3017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linhas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92240" y="36118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Bandejas FLV · Calços Técnicos · Agro &amp; Florestal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5303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5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572000"/>
            <a:ext cx="91440" cy="1463040"/>
          </a:xfrm>
          <a:prstGeom prst="rect">
            <a:avLst/>
          </a:prstGeom>
          <a:solidFill>
            <a:srgbClr val="5C8A3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7548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4400" y="53492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compostável, reciclável e atóxico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4572000"/>
            <a:ext cx="5303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5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4572000"/>
            <a:ext cx="91440" cy="1463040"/>
          </a:xfrm>
          <a:prstGeom prst="rect">
            <a:avLst/>
          </a:prstGeom>
          <a:solidFill>
            <a:srgbClr val="5C8A3A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7548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Sede SP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92240" y="53492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de exportação e atendimento nacional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Tamoios Tecnologia · Deck Comercial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167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39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BA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VALOR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Substituímos plástico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reinventar sua operação.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3474720"/>
            <a:ext cx="3566160" cy="2743200"/>
          </a:xfrm>
          <a:prstGeom prst="rect">
            <a:avLst/>
          </a:prstGeom>
          <a:solidFill>
            <a:srgbClr val="1A5638"/>
          </a:solidFill>
          <a:ln w="12700">
            <a:solidFill>
              <a:srgbClr val="5C8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474720"/>
            <a:ext cx="3566160" cy="73152"/>
          </a:xfrm>
          <a:prstGeom prst="rect">
            <a:avLst/>
          </a:prstGeom>
          <a:solidFill>
            <a:srgbClr val="7BAF4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657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CD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Resistência mecânica equivalente ou superior ao EPS, com menor peso por unidade.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3474720"/>
            <a:ext cx="3566160" cy="2743200"/>
          </a:xfrm>
          <a:prstGeom prst="rect">
            <a:avLst/>
          </a:prstGeom>
          <a:solidFill>
            <a:srgbClr val="1A5638"/>
          </a:solidFill>
          <a:ln w="12700">
            <a:solidFill>
              <a:srgbClr val="5C8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3474720"/>
            <a:ext cx="3566160" cy="73152"/>
          </a:xfrm>
          <a:prstGeom prst="rect">
            <a:avLst/>
          </a:prstGeom>
          <a:solidFill>
            <a:srgbClr val="7BAF4D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3657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63440" y="429768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CD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 exigências de redes (Carrefour, GPA) e regulação ESG nacional e europeia.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3474720"/>
            <a:ext cx="3566160" cy="2743200"/>
          </a:xfrm>
          <a:prstGeom prst="rect">
            <a:avLst/>
          </a:prstGeom>
          <a:solidFill>
            <a:srgbClr val="1A5638"/>
          </a:solidFill>
          <a:ln w="12700">
            <a:solidFill>
              <a:srgbClr val="5C8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3474720"/>
            <a:ext cx="3566160" cy="73152"/>
          </a:xfrm>
          <a:prstGeom prst="rect">
            <a:avLst/>
          </a:prstGeom>
          <a:solidFill>
            <a:srgbClr val="7BAF4D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3657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12480" y="429768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CD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industriais com capacidade para grandes contratos B2B e exportação.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Tamoios Tecnologia · Deck Comercial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167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· BANDEJAS FLV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Hortifrúti sem isopor.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Bandejas biodegradáveis para frutas, legumes e verduras em redes de varejo.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457200" cy="73152"/>
          </a:xfrm>
          <a:prstGeom prst="rect">
            <a:avLst/>
          </a:prstGeom>
          <a:solidFill>
            <a:srgbClr val="5C8A3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907792"/>
            <a:ext cx="164592" cy="164592"/>
          </a:xfrm>
          <a:prstGeom prst="ellipse">
            <a:avLst/>
          </a:prstGeom>
          <a:solidFill>
            <a:srgbClr val="5C8A3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8346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 EPS 1:1 em gôndola, sem mudança de processo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547872"/>
            <a:ext cx="164592" cy="164592"/>
          </a:xfrm>
          <a:prstGeom prst="ellipse">
            <a:avLst/>
          </a:prstGeom>
          <a:solidFill>
            <a:srgbClr val="5C8A3A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4747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Resistência à umidade controlada para frutas in natura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4187952"/>
            <a:ext cx="164592" cy="164592"/>
          </a:xfrm>
          <a:prstGeom prst="ellipse">
            <a:avLst/>
          </a:prstGeom>
          <a:solidFill>
            <a:srgbClr val="5C8A3A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1148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Empilhável, imprimível e compostável em até 90 dias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828032"/>
            <a:ext cx="164592" cy="164592"/>
          </a:xfrm>
          <a:prstGeom prst="ellipse">
            <a:avLst/>
          </a:prstGeom>
          <a:solidFill>
            <a:srgbClr val="5C8A3A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7548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 ao caderno de fornecedor sustentável Carrefour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0" y="2743200"/>
            <a:ext cx="4114800" cy="3200400"/>
          </a:xfrm>
          <a:prstGeom prst="rect">
            <a:avLst/>
          </a:prstGeom>
          <a:solidFill>
            <a:srgbClr val="1A5638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0" y="2880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8C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680960" y="32918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Redes de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supermercado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680960" y="48463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D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Atacarejos · Hortifrútis premium · E-commerce de alimentos frescos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Tamoios Tecnologia · Deck Comercial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167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· CALÇOS TÉCNICOS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Engenharia em fibra.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Calços e berços técnicos sob medida para autopeças, eletrodomésticos e logística industrial.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457200" cy="73152"/>
          </a:xfrm>
          <a:prstGeom prst="rect">
            <a:avLst/>
          </a:prstGeom>
          <a:solidFill>
            <a:srgbClr val="5C8A3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907792"/>
            <a:ext cx="164592" cy="164592"/>
          </a:xfrm>
          <a:prstGeom prst="ellipse">
            <a:avLst/>
          </a:prstGeom>
          <a:solidFill>
            <a:srgbClr val="5C8A3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8346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Projetado por engenharia para absorver impacto e vibração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547872"/>
            <a:ext cx="164592" cy="164592"/>
          </a:xfrm>
          <a:prstGeom prst="ellipse">
            <a:avLst/>
          </a:prstGeom>
          <a:solidFill>
            <a:srgbClr val="5C8A3A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4747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 EPS, EPP e papelão corrugado em embalagens técnicas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4187952"/>
            <a:ext cx="164592" cy="164592"/>
          </a:xfrm>
          <a:prstGeom prst="ellipse">
            <a:avLst/>
          </a:prstGeom>
          <a:solidFill>
            <a:srgbClr val="5C8A3A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1148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Personalizado por molde — geometria conforme peça do cliente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828032"/>
            <a:ext cx="164592" cy="164592"/>
          </a:xfrm>
          <a:prstGeom prst="ellipse">
            <a:avLst/>
          </a:prstGeom>
          <a:solidFill>
            <a:srgbClr val="5C8A3A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7548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custo logístico por melhor densidade de empilhamento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0" y="2743200"/>
            <a:ext cx="4114800" cy="3200400"/>
          </a:xfrm>
          <a:prstGeom prst="rect">
            <a:avLst/>
          </a:prstGeom>
          <a:solidFill>
            <a:srgbClr val="1A5638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0" y="2880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8C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680960" y="32918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Indústria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automotiva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680960" y="48463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D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branca · Eletrônicos · Vidros técnicos · Peças OEM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Tamoios Tecnologia · Deck Comercial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167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· AGRO &amp; FLORESTAL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Plantio sem plástico.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Tubetes e sementeiras biodegradáveis para restauração florestal e mudas de alto valor.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457200" cy="73152"/>
          </a:xfrm>
          <a:prstGeom prst="rect">
            <a:avLst/>
          </a:prstGeom>
          <a:solidFill>
            <a:srgbClr val="5C8A3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907792"/>
            <a:ext cx="164592" cy="164592"/>
          </a:xfrm>
          <a:prstGeom prst="ellipse">
            <a:avLst/>
          </a:prstGeom>
          <a:solidFill>
            <a:srgbClr val="5C8A3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8346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direto ao solo — sem retirar a muda do recipiente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547872"/>
            <a:ext cx="164592" cy="164592"/>
          </a:xfrm>
          <a:prstGeom prst="ellipse">
            <a:avLst/>
          </a:prstGeom>
          <a:solidFill>
            <a:srgbClr val="5C8A3A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4747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mortalidade no transplante e custo de mão de obra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4187952"/>
            <a:ext cx="164592" cy="164592"/>
          </a:xfrm>
          <a:prstGeom prst="ellipse">
            <a:avLst/>
          </a:prstGeom>
          <a:solidFill>
            <a:srgbClr val="5C8A3A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1148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Compatível com viveiros de larga escala e ATER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828032"/>
            <a:ext cx="164592" cy="164592"/>
          </a:xfrm>
          <a:prstGeom prst="ellipse">
            <a:avLst/>
          </a:prstGeom>
          <a:solidFill>
            <a:srgbClr val="5C8A3A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7548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 para uso em projetos de carbono e restauração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0" y="2743200"/>
            <a:ext cx="4114800" cy="3200400"/>
          </a:xfrm>
          <a:prstGeom prst="rect">
            <a:avLst/>
          </a:prstGeom>
          <a:solidFill>
            <a:srgbClr val="1A5638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0" y="2880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8C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680960" y="32918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Restauração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florestal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680960" y="48463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D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Belterra · Agroflorestas · Reflorestamento privado · Cafeicultura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Tamoios Tecnologia · Deck Comercial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167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DF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DIFERENCIAIS TÉCNICOS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papel-cartão.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biomassa de alta densidade.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457200" cy="73152"/>
          </a:xfrm>
          <a:prstGeom prst="rect">
            <a:avLst/>
          </a:prstGeom>
          <a:solidFill>
            <a:srgbClr val="5C8A3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3200400"/>
            <a:ext cx="5303520" cy="1371600"/>
          </a:xfrm>
          <a:prstGeom prst="rect">
            <a:avLst/>
          </a:prstGeom>
          <a:solidFill>
            <a:srgbClr val="F7F2E8"/>
          </a:solidFill>
          <a:ln w="9525">
            <a:solidFill>
              <a:srgbClr val="1A56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3375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C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Até 0,9 g/cm³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0,5 g/cm³ de polpa convencional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3200400"/>
            <a:ext cx="5303520" cy="1371600"/>
          </a:xfrm>
          <a:prstGeom prst="rect">
            <a:avLst/>
          </a:prstGeom>
          <a:solidFill>
            <a:srgbClr val="F7F2E8"/>
          </a:solidFill>
          <a:ln w="9525">
            <a:solidFill>
              <a:srgbClr val="1A56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33375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C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RESISTÊNCIA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92240" y="36576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92240" y="4160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compressão vs. embalagens equivalentes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754880"/>
            <a:ext cx="5303520" cy="1371600"/>
          </a:xfrm>
          <a:prstGeom prst="rect">
            <a:avLst/>
          </a:prstGeom>
          <a:solidFill>
            <a:srgbClr val="F7F2E8"/>
          </a:solidFill>
          <a:ln w="9525">
            <a:solidFill>
              <a:srgbClr val="1A56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C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UMIDADE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52120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Tratamento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4400" y="5715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hidrofóbico atóxico opcional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4754880"/>
            <a:ext cx="5303520" cy="1371600"/>
          </a:xfrm>
          <a:prstGeom prst="rect">
            <a:avLst/>
          </a:prstGeom>
          <a:solidFill>
            <a:srgbClr val="F7F2E8"/>
          </a:solidFill>
          <a:ln w="9525">
            <a:solidFill>
              <a:srgbClr val="1A56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8920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C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COMPOSTAGEM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92240" y="52120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60-90 dias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92240" y="5715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condições industriais (TÜV OK)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Tamoios Tecnologia · Deck Comercial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167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39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BA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ESG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tonelada de polpa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evita 2,4 toneladas de CO₂e.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CD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EPS virgem em ciclo de vida completo (LCA preliminar, 2025).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2606040" cy="2286000"/>
          </a:xfrm>
          <a:prstGeom prst="rect">
            <a:avLst/>
          </a:prstGeom>
          <a:solidFill>
            <a:srgbClr val="0E3924"/>
          </a:solidFill>
          <a:ln w="12700">
            <a:solidFill>
              <a:srgbClr val="5C8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3192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BA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D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matéria-prima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CD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renovável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3657600"/>
            <a:ext cx="2606040" cy="2286000"/>
          </a:xfrm>
          <a:prstGeom prst="rect">
            <a:avLst/>
          </a:prstGeom>
          <a:solidFill>
            <a:srgbClr val="0E3924"/>
          </a:solidFill>
          <a:ln w="12700">
            <a:solidFill>
              <a:srgbClr val="5C8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393192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BA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11880" y="49377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D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microplásticos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CD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ambiente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3657600"/>
            <a:ext cx="2606040" cy="2286000"/>
          </a:xfrm>
          <a:prstGeom prst="rect">
            <a:avLst/>
          </a:prstGeom>
          <a:solidFill>
            <a:srgbClr val="0E3924"/>
          </a:solidFill>
          <a:ln w="12700">
            <a:solidFill>
              <a:srgbClr val="5C8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393192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BA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–60%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00800" y="49377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D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pegada hídrica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CD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plástico virgem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06840" y="3657600"/>
            <a:ext cx="2606040" cy="2286000"/>
          </a:xfrm>
          <a:prstGeom prst="rect">
            <a:avLst/>
          </a:prstGeom>
          <a:solidFill>
            <a:srgbClr val="0E3924"/>
          </a:solidFill>
          <a:ln w="12700">
            <a:solidFill>
              <a:srgbClr val="5C8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393192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BA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ODS 12·13·15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89720" y="49377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D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· Clima 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CD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terrestre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Tamoios Tecnologia · Deck Comercial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167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· VAREJO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Carrefour Brasil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Substituição de bandejas de isopor por polpa em hortifrúti.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457200" cy="73152"/>
          </a:xfrm>
          <a:prstGeom prst="rect">
            <a:avLst/>
          </a:prstGeom>
          <a:solidFill>
            <a:srgbClr val="5C8A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Atender ao compromisso público da rede de eliminar EPS de uso único em FLV até 2026, sem comprometer custo de embalagem nem performance em gôndola.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937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530352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no caderno de fornecedor sustentável + pilotos em 12 lojas-âncora com adoção crescente desde 2025.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0" y="2743200"/>
            <a:ext cx="4754880" cy="3657600"/>
          </a:xfrm>
          <a:prstGeom prst="rect">
            <a:avLst/>
          </a:prstGeom>
          <a:solidFill>
            <a:srgbClr val="1A5638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0" y="2926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8C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do Piloto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40880" y="3474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BA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961120" y="34747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D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lojas-âncora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40880" y="43891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BA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1:1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961120" y="4389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D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substituição EPS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40880" y="5303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BA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–100%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961120" y="53035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D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isopor em FLV alvo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Tamoios Tecnologia · Deck Comercial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167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· AGROFLORESTAL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Belterra Agroflorestas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Tubetes biodegradáveis em plantios SAF de larga escala.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457200" cy="73152"/>
          </a:xfrm>
          <a:prstGeom prst="rect">
            <a:avLst/>
          </a:prstGeom>
          <a:solidFill>
            <a:srgbClr val="5C8A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plantio agroflorestal sem o passivo logístico e ambiental de retirar e descartar tubetes plásticos em campo.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937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530352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Tubete plantado direto no solo, eliminando etapa de retirada e reduzindo mortalidade de mudas no transplante.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0" y="2743200"/>
            <a:ext cx="4754880" cy="3657600"/>
          </a:xfrm>
          <a:prstGeom prst="rect">
            <a:avLst/>
          </a:prstGeom>
          <a:solidFill>
            <a:srgbClr val="1A5638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0" y="2926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8C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Operacional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40880" y="34747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A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052560" y="34747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D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logística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40880" y="43891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A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sobrev.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052560" y="43891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D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transplante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40880" y="53035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A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052560" y="53035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D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plástico em solo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Tamoios Tecnologia · Deck Comercial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167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CDF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Validado pelo ecossistema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inovação climática.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457200" cy="73152"/>
          </a:xfrm>
          <a:prstGeom prst="rect">
            <a:avLst/>
          </a:prstGeom>
          <a:solidFill>
            <a:srgbClr val="5C8A3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3291840"/>
            <a:ext cx="3566160" cy="1371600"/>
          </a:xfrm>
          <a:prstGeom prst="rect">
            <a:avLst/>
          </a:prstGeom>
          <a:solidFill>
            <a:srgbClr val="F7F2E8"/>
          </a:solidFill>
          <a:ln w="9525">
            <a:solidFill>
              <a:srgbClr val="1A56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474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BNDES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069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 de captação · R$ 5M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3291840"/>
            <a:ext cx="3566160" cy="1371600"/>
          </a:xfrm>
          <a:prstGeom prst="rect">
            <a:avLst/>
          </a:prstGeom>
          <a:solidFill>
            <a:srgbClr val="F7F2E8"/>
          </a:solidFill>
          <a:ln w="9525">
            <a:solidFill>
              <a:srgbClr val="1A56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3474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Quintessa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63440" y="4069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Climate · acelerada 2024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3291840"/>
            <a:ext cx="3566160" cy="1371600"/>
          </a:xfrm>
          <a:prstGeom prst="rect">
            <a:avLst/>
          </a:prstGeom>
          <a:solidFill>
            <a:srgbClr val="F7F2E8"/>
          </a:solidFill>
          <a:ln w="9525">
            <a:solidFill>
              <a:srgbClr val="1A56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3474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Carrefour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412480" y="4069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 sustentável aprovado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846320"/>
            <a:ext cx="3566160" cy="1371600"/>
          </a:xfrm>
          <a:prstGeom prst="rect">
            <a:avLst/>
          </a:prstGeom>
          <a:solidFill>
            <a:srgbClr val="F7F2E8"/>
          </a:solidFill>
          <a:ln w="9525">
            <a:solidFill>
              <a:srgbClr val="1A56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029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Unicamp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4400" y="5623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de P&amp;D em biomateriais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4846320"/>
            <a:ext cx="3566160" cy="1371600"/>
          </a:xfrm>
          <a:prstGeom prst="rect">
            <a:avLst/>
          </a:prstGeom>
          <a:solidFill>
            <a:srgbClr val="F7F2E8"/>
          </a:solidFill>
          <a:ln w="9525">
            <a:solidFill>
              <a:srgbClr val="1A56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5029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Irani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63440" y="5623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 de fibras certificadas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4846320"/>
            <a:ext cx="3566160" cy="1371600"/>
          </a:xfrm>
          <a:prstGeom prst="rect">
            <a:avLst/>
          </a:prstGeom>
          <a:solidFill>
            <a:srgbClr val="F7F2E8"/>
          </a:solidFill>
          <a:ln w="9525">
            <a:solidFill>
              <a:srgbClr val="1A56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5029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Belterra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412480" y="5623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 de restauração agroflorestal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Tamoios Tecnologia · Deck Comercial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167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 PRODUTIVA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fibra ao cliente.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73152"/>
          </a:xfrm>
          <a:prstGeom prst="rect">
            <a:avLst/>
          </a:prstGeom>
          <a:solidFill>
            <a:srgbClr val="5C8A3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468880"/>
            <a:ext cx="21031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5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468880"/>
            <a:ext cx="2103120" cy="457200"/>
          </a:xfrm>
          <a:prstGeom prst="rect">
            <a:avLst/>
          </a:prstGeom>
          <a:solidFill>
            <a:srgbClr val="1A563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A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Fibras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Bagaço de cana, bambu, fibras curtas certificadas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80360" y="2468880"/>
            <a:ext cx="21031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5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2468880"/>
            <a:ext cx="2103120" cy="457200"/>
          </a:xfrm>
          <a:prstGeom prst="rect">
            <a:avLst/>
          </a:prstGeom>
          <a:solidFill>
            <a:srgbClr val="1A5638"/>
          </a:solidFill>
          <a:ln/>
        </p:spPr>
      </p:sp>
      <p:sp>
        <p:nvSpPr>
          <p:cNvPr id="12" name="Text 10"/>
          <p:cNvSpPr/>
          <p:nvPr/>
        </p:nvSpPr>
        <p:spPr>
          <a:xfrm>
            <a:off x="288036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A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63240" y="3108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Polpa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63240" y="3749040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Suspensão de alta densidade com aditivos atóxicos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2468880"/>
            <a:ext cx="21031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5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0" y="2468880"/>
            <a:ext cx="2103120" cy="457200"/>
          </a:xfrm>
          <a:prstGeom prst="rect">
            <a:avLst/>
          </a:prstGeom>
          <a:solidFill>
            <a:srgbClr val="1A5638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A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03520" y="3108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Moldagem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03520" y="3749040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Molde técnico sob projeto do cliente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60920" y="2468880"/>
            <a:ext cx="21031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5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60920" y="2468880"/>
            <a:ext cx="2103120" cy="457200"/>
          </a:xfrm>
          <a:prstGeom prst="rect">
            <a:avLst/>
          </a:prstGeom>
          <a:solidFill>
            <a:srgbClr val="1A5638"/>
          </a:solidFill>
          <a:ln/>
        </p:spPr>
      </p:sp>
      <p:sp>
        <p:nvSpPr>
          <p:cNvPr id="22" name="Text 20"/>
          <p:cNvSpPr/>
          <p:nvPr/>
        </p:nvSpPr>
        <p:spPr>
          <a:xfrm>
            <a:off x="736092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A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43800" y="3108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Acabamento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43800" y="3749040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Secagem, tratamento hidrofóbico e impressão opcional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601200" y="2468880"/>
            <a:ext cx="21031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5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0" y="2468880"/>
            <a:ext cx="2103120" cy="457200"/>
          </a:xfrm>
          <a:prstGeom prst="rect">
            <a:avLst/>
          </a:prstGeom>
          <a:solidFill>
            <a:srgbClr val="1A5638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A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84080" y="3108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Entrega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784080" y="3749040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nacional + exportação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Tamoios Tecnologia · Deck Comercial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167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compra Tamoios.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73152"/>
          </a:xfrm>
          <a:prstGeom prst="rect">
            <a:avLst/>
          </a:prstGeom>
          <a:solidFill>
            <a:srgbClr val="5C8A3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377440"/>
            <a:ext cx="3611880" cy="3931920"/>
          </a:xfrm>
          <a:prstGeom prst="rect">
            <a:avLst/>
          </a:prstGeom>
          <a:solidFill>
            <a:srgbClr val="1A5638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377440"/>
            <a:ext cx="3611880" cy="73152"/>
          </a:xfrm>
          <a:prstGeom prst="rect">
            <a:avLst/>
          </a:prstGeom>
          <a:solidFill>
            <a:srgbClr val="7BAF4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517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Varejo Alimentar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CD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 supermercado e atacarejo com metas ESG e exigências regulatórias para FLV.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2377440"/>
            <a:ext cx="3611880" cy="3931920"/>
          </a:xfrm>
          <a:prstGeom prst="rect">
            <a:avLst/>
          </a:prstGeom>
          <a:solidFill>
            <a:srgbClr val="1A5638"/>
          </a:solidFill>
          <a:ln/>
        </p:spPr>
      </p:sp>
      <p:sp>
        <p:nvSpPr>
          <p:cNvPr id="10" name="Shape 8"/>
          <p:cNvSpPr/>
          <p:nvPr/>
        </p:nvSpPr>
        <p:spPr>
          <a:xfrm>
            <a:off x="4434840" y="2377440"/>
            <a:ext cx="3611880" cy="73152"/>
          </a:xfrm>
          <a:prstGeom prst="rect">
            <a:avLst/>
          </a:prstGeom>
          <a:solidFill>
            <a:srgbClr val="7BAF4D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6517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Indústria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356616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CD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Autopeças, linha branca e eletrônicos que precisam de calços técnicos com performance OEM.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2377440"/>
            <a:ext cx="3611880" cy="3931920"/>
          </a:xfrm>
          <a:prstGeom prst="rect">
            <a:avLst/>
          </a:prstGeom>
          <a:solidFill>
            <a:srgbClr val="1A5638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0" y="2377440"/>
            <a:ext cx="3611880" cy="73152"/>
          </a:xfrm>
          <a:prstGeom prst="rect">
            <a:avLst/>
          </a:prstGeom>
          <a:solidFill>
            <a:srgbClr val="7BAF4D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26517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Agro &amp; Florestal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03920" y="356616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CD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Viveiros, projetos de restauração, carbono e cafeicultura de alto valor.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Tamoios Tecnologia · Deck Comercial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167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CDF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A5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COMEÇAR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briefing ao primeiro pallet,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até 60 dias.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457200" cy="73152"/>
          </a:xfrm>
          <a:prstGeom prst="rect">
            <a:avLst/>
          </a:prstGeom>
          <a:solidFill>
            <a:srgbClr val="5C8A3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3200400"/>
            <a:ext cx="2606040" cy="3108960"/>
          </a:xfrm>
          <a:prstGeom prst="rect">
            <a:avLst/>
          </a:prstGeom>
          <a:solidFill>
            <a:srgbClr val="F7F2E8"/>
          </a:solidFill>
          <a:ln w="9525">
            <a:solidFill>
              <a:srgbClr val="1A56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C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Briefing técnico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6634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Volumes, peça-alvo, requisitos de carga e umidade.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3200400"/>
            <a:ext cx="2606040" cy="3108960"/>
          </a:xfrm>
          <a:prstGeom prst="rect">
            <a:avLst/>
          </a:prstGeom>
          <a:solidFill>
            <a:srgbClr val="F7F2E8"/>
          </a:solidFill>
          <a:ln w="9525">
            <a:solidFill>
              <a:srgbClr val="1A56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C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2-3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0" y="3657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Proposta + amostra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1880" y="46634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valida geometria e envia protótipo.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200400"/>
            <a:ext cx="2606040" cy="3108960"/>
          </a:xfrm>
          <a:prstGeom prst="rect">
            <a:avLst/>
          </a:prstGeom>
          <a:solidFill>
            <a:srgbClr val="F7F2E8"/>
          </a:solidFill>
          <a:ln w="9525">
            <a:solidFill>
              <a:srgbClr val="1A56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C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4-6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0" y="3657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Piloto em campo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46634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em linha de embalagem ou viveiro.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06840" y="3200400"/>
            <a:ext cx="2606040" cy="3108960"/>
          </a:xfrm>
          <a:prstGeom prst="rect">
            <a:avLst/>
          </a:prstGeom>
          <a:solidFill>
            <a:srgbClr val="F7F2E8"/>
          </a:solidFill>
          <a:ln w="9525">
            <a:solidFill>
              <a:srgbClr val="1A56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C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7-9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89720" y="3657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Molde e produção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89720" y="46634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+ primeira corrida industrial.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Tamoios Tecnologia · Deck Comercial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167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39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BA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AGORA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janela regulatória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já começou.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1371600" cy="73152"/>
          </a:xfrm>
          <a:prstGeom prst="rect">
            <a:avLst/>
          </a:prstGeom>
          <a:solidFill>
            <a:srgbClr val="7BAF4D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3291840"/>
            <a:ext cx="1645920" cy="594360"/>
          </a:xfrm>
          <a:prstGeom prst="rect">
            <a:avLst/>
          </a:prstGeom>
          <a:solidFill>
            <a:srgbClr val="7BAF4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2918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 2024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0" y="3291840"/>
            <a:ext cx="9052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Diretiva PPWR restringe embalagens plásticas de uso único.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023360"/>
            <a:ext cx="1645920" cy="594360"/>
          </a:xfrm>
          <a:prstGeom prst="rect">
            <a:avLst/>
          </a:prstGeom>
          <a:solidFill>
            <a:srgbClr val="7BAF4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023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Brasil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4023360"/>
            <a:ext cx="9052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e municípios proibindo isopor em FLV (SP, RJ, MG).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754880"/>
            <a:ext cx="1645920" cy="594360"/>
          </a:xfrm>
          <a:prstGeom prst="rect">
            <a:avLst/>
          </a:prstGeom>
          <a:solidFill>
            <a:srgbClr val="7BAF4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7548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Varejo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4754880"/>
            <a:ext cx="9052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Carrefour, GPA e Pão de Açúcar com metas públicas de phase-out.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486400"/>
            <a:ext cx="1645920" cy="594360"/>
          </a:xfrm>
          <a:prstGeom prst="rect">
            <a:avLst/>
          </a:prstGeom>
          <a:solidFill>
            <a:srgbClr val="7BAF4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4864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68880" y="5486400"/>
            <a:ext cx="9052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BNDES, Climate Tech e fundos de impacto financiando substitutos.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Tamoios Tecnologia · Deck Comercial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167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39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5C8A3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5C8A3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BA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CONVERSAR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Substitua plástico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engenharia brasileira.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1371600" cy="73152"/>
          </a:xfrm>
          <a:prstGeom prst="rect">
            <a:avLst/>
          </a:prstGeom>
          <a:solidFill>
            <a:srgbClr val="7BAF4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C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Rafael Carvalho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4846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D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rafael@tamoiostecnologia.com.br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212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D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· +55 11 98271-2685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C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4297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tamoiostecnologia.com.br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58000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D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/materiais — portfólio completo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0" y="5212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D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· Instagram @tamoiostecnologia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943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8C5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Tamoios Tecnologia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Deck Comercial Tamoios 2026</dc:title>
  <dc:subject>PptxGenJS Presentation</dc:subject>
  <dc:creator>Tamoios Tecnologia</dc:creator>
  <cp:lastModifiedBy>Tamoios Tecnologia</cp:lastModifiedBy>
  <cp:revision>1</cp:revision>
  <dcterms:created xsi:type="dcterms:W3CDTF">2026-06-05T02:14:57Z</dcterms:created>
  <dcterms:modified xsi:type="dcterms:W3CDTF">2026-06-05T02:14:57Z</dcterms:modified>
</cp:coreProperties>
</file>