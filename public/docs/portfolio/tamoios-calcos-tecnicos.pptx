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y="68580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gUKE8K1bbb9l631bYKewLNmtTg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0" type="dt"/>
          </p:nvPr>
        </p:nvSpPr>
        <p:spPr>
          <a:xfrm>
            <a:off x="3884612" y="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2" type="sldNum"/>
          </p:nvPr>
        </p:nvSpPr>
        <p:spPr>
          <a:xfrm>
            <a:off x="3884612" y="8685212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n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n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n"/>
          <p:cNvSpPr txBox="1"/>
          <p:nvPr>
            <p:ph idx="2" type="dt"/>
          </p:nvPr>
        </p:nvSpPr>
        <p:spPr>
          <a:xfrm>
            <a:off x="3884612" y="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def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n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n"/>
          <p:cNvSpPr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n"/>
          <p:cNvSpPr txBox="1"/>
          <p:nvPr>
            <p:ph idx="3" type="sldNum"/>
          </p:nvPr>
        </p:nvSpPr>
        <p:spPr>
          <a:xfrm>
            <a:off x="3884612" y="8685212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" name="Google Shape;27;n"/>
          <p:cNvSpPr/>
          <p:nvPr>
            <p:ph idx="4" type="sldImg"/>
          </p:nvPr>
        </p:nvSpPr>
        <p:spPr>
          <a:xfrm>
            <a:off x="-11798300" y="-11796712"/>
            <a:ext cx="11777662" cy="12471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/>
        </p:nvSpPr>
        <p:spPr>
          <a:xfrm>
            <a:off x="3884612" y="0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67" name="Google Shape;67;p1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8" name="Google Shape;68;p1:notes"/>
          <p:cNvSpPr txBox="1"/>
          <p:nvPr/>
        </p:nvSpPr>
        <p:spPr>
          <a:xfrm>
            <a:off x="3884612" y="0"/>
            <a:ext cx="2959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69" name="Google Shape;69;p1:notes"/>
          <p:cNvSpPr txBox="1"/>
          <p:nvPr/>
        </p:nvSpPr>
        <p:spPr>
          <a:xfrm>
            <a:off x="3884612" y="8685212"/>
            <a:ext cx="2959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1" name="Google Shape;71;p1:notes"/>
          <p:cNvSpPr/>
          <p:nvPr/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:notes"/>
          <p:cNvSpPr txBox="1"/>
          <p:nvPr/>
        </p:nvSpPr>
        <p:spPr>
          <a:xfrm>
            <a:off x="3884612" y="8685212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e3ec37c76b_0_491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1e3ec37c76b_0_491:notes"/>
          <p:cNvSpPr/>
          <p:nvPr>
            <p:ph idx="2" type="sldImg"/>
          </p:nvPr>
        </p:nvSpPr>
        <p:spPr>
          <a:xfrm>
            <a:off x="1714732" y="685791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e3ec37c76b_0_554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1e3ec37c76b_0_554:notes"/>
          <p:cNvSpPr/>
          <p:nvPr>
            <p:ph idx="2" type="sldImg"/>
          </p:nvPr>
        </p:nvSpPr>
        <p:spPr>
          <a:xfrm>
            <a:off x="1714732" y="685791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0" type="dt"/>
          </p:nvPr>
        </p:nvSpPr>
        <p:spPr>
          <a:xfrm>
            <a:off x="3884612" y="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&lt;data/hora&gt;</a:t>
            </a:r>
            <a:endParaRPr/>
          </a:p>
        </p:txBody>
      </p:sp>
      <p:sp>
        <p:nvSpPr>
          <p:cNvPr id="97" name="Google Shape;97;p2:notes"/>
          <p:cNvSpPr txBox="1"/>
          <p:nvPr/>
        </p:nvSpPr>
        <p:spPr>
          <a:xfrm>
            <a:off x="3884612" y="0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98" name="Google Shape;98;p2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-14224000" y="-11796712"/>
            <a:ext cx="16635412" cy="12477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0" name="Google Shape;100;p2:notes"/>
          <p:cNvSpPr/>
          <p:nvPr/>
        </p:nvSpPr>
        <p:spPr>
          <a:xfrm>
            <a:off x="685800" y="4343400"/>
            <a:ext cx="5467350" cy="409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0" type="dt"/>
          </p:nvPr>
        </p:nvSpPr>
        <p:spPr>
          <a:xfrm>
            <a:off x="3884612" y="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&lt;data/hora&gt;</a:t>
            </a:r>
            <a:endParaRPr/>
          </a:p>
        </p:txBody>
      </p:sp>
      <p:sp>
        <p:nvSpPr>
          <p:cNvPr id="114" name="Google Shape;114;p3:notes"/>
          <p:cNvSpPr txBox="1"/>
          <p:nvPr/>
        </p:nvSpPr>
        <p:spPr>
          <a:xfrm>
            <a:off x="3884612" y="0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115" name="Google Shape;115;p3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6" name="Google Shape;116;p3:notes"/>
          <p:cNvSpPr txBox="1"/>
          <p:nvPr/>
        </p:nvSpPr>
        <p:spPr>
          <a:xfrm>
            <a:off x="3884612" y="0"/>
            <a:ext cx="2959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117" name="Google Shape;117;p3:notes"/>
          <p:cNvSpPr txBox="1"/>
          <p:nvPr/>
        </p:nvSpPr>
        <p:spPr>
          <a:xfrm>
            <a:off x="3884612" y="8685212"/>
            <a:ext cx="2959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000" y="695325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9" name="Google Shape;119;p3:notes"/>
          <p:cNvSpPr/>
          <p:nvPr/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6" name="Google Shape;136;p4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5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1" name="Google Shape;161;p6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0" name="Google Shape;180;p7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4" name="Google Shape;194;p8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0" name="Google Shape;210;p9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-14224000" y="-11796712"/>
            <a:ext cx="16632237" cy="1247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3" name="Google Shape;223;p11:notes"/>
          <p:cNvSpPr/>
          <p:nvPr/>
        </p:nvSpPr>
        <p:spPr>
          <a:xfrm>
            <a:off x="685800" y="4343400"/>
            <a:ext cx="5464175" cy="409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-11798300" y="-11796712"/>
            <a:ext cx="11779250" cy="12472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62587" cy="4090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3ec37c76b_0_83:notes"/>
          <p:cNvSpPr/>
          <p:nvPr>
            <p:ph idx="2" type="sldImg"/>
          </p:nvPr>
        </p:nvSpPr>
        <p:spPr>
          <a:xfrm>
            <a:off x="-14224002" y="-11796712"/>
            <a:ext cx="16632300" cy="1247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7" name="Google Shape;247;g1e3ec37c76b_0_83:notes"/>
          <p:cNvSpPr/>
          <p:nvPr/>
        </p:nvSpPr>
        <p:spPr>
          <a:xfrm>
            <a:off x="685800" y="4343400"/>
            <a:ext cx="5464200" cy="40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1e3ec37c76b_0_83:notes"/>
          <p:cNvSpPr txBox="1"/>
          <p:nvPr/>
        </p:nvSpPr>
        <p:spPr>
          <a:xfrm>
            <a:off x="3884612" y="8685212"/>
            <a:ext cx="2949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49" name="Google Shape;249;g1e3ec37c76b_0_83:notes"/>
          <p:cNvSpPr txBox="1"/>
          <p:nvPr>
            <p:ph idx="1" type="body"/>
          </p:nvPr>
        </p:nvSpPr>
        <p:spPr>
          <a:xfrm>
            <a:off x="685800" y="4343400"/>
            <a:ext cx="5446800" cy="407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e3ec37c76b_0_8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1e3ec37c76b_0_8:notes"/>
          <p:cNvSpPr/>
          <p:nvPr>
            <p:ph idx="2" type="sldImg"/>
          </p:nvPr>
        </p:nvSpPr>
        <p:spPr>
          <a:xfrm>
            <a:off x="1714732" y="685791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/>
        </p:nvSpPr>
        <p:spPr>
          <a:xfrm>
            <a:off x="3884612" y="0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270" name="Google Shape;270;p14:notes"/>
          <p:cNvSpPr txBox="1"/>
          <p:nvPr/>
        </p:nvSpPr>
        <p:spPr>
          <a:xfrm>
            <a:off x="3884612" y="8685212"/>
            <a:ext cx="2949575" cy="43497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1" name="Google Shape;271;p14:notes"/>
          <p:cNvSpPr txBox="1"/>
          <p:nvPr/>
        </p:nvSpPr>
        <p:spPr>
          <a:xfrm>
            <a:off x="3884612" y="0"/>
            <a:ext cx="2959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r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&lt;data/hora&gt;</a:t>
            </a:r>
            <a:endParaRPr/>
          </a:p>
        </p:txBody>
      </p:sp>
      <p:sp>
        <p:nvSpPr>
          <p:cNvPr id="272" name="Google Shape;272;p14:notes"/>
          <p:cNvSpPr txBox="1"/>
          <p:nvPr/>
        </p:nvSpPr>
        <p:spPr>
          <a:xfrm>
            <a:off x="3884612" y="8685212"/>
            <a:ext cx="29591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-762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4" name="Google Shape;274;p14:notes"/>
          <p:cNvSpPr/>
          <p:nvPr/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:notes"/>
          <p:cNvSpPr txBox="1"/>
          <p:nvPr/>
        </p:nvSpPr>
        <p:spPr>
          <a:xfrm>
            <a:off x="3884612" y="8685212"/>
            <a:ext cx="2968625" cy="4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61000" cy="40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/>
          <p:nvPr>
            <p:ph idx="10" type="dt"/>
          </p:nvPr>
        </p:nvSpPr>
        <p:spPr>
          <a:xfrm>
            <a:off x="457200" y="6356350"/>
            <a:ext cx="2111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3124200" y="6127750"/>
            <a:ext cx="28733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6553200" y="6356350"/>
            <a:ext cx="2111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/>
          <p:nvPr>
            <p:ph idx="10" type="dt"/>
          </p:nvPr>
        </p:nvSpPr>
        <p:spPr>
          <a:xfrm>
            <a:off x="457200" y="6356350"/>
            <a:ext cx="2130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3124200" y="6356350"/>
            <a:ext cx="2892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6553200" y="6356350"/>
            <a:ext cx="2130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-214313" lvl="0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14313" lvl="1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14313" lvl="2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14313" lvl="3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14313" lvl="4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14313" lvl="5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14313" lvl="6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14313" lvl="7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14313" lvl="8" marL="2159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14313" lvl="0" marL="215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1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127750"/>
            <a:ext cx="28734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1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5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/>
          <p:nvPr>
            <p:ph type="title"/>
          </p:nvPr>
        </p:nvSpPr>
        <p:spPr>
          <a:xfrm>
            <a:off x="457200" y="128587"/>
            <a:ext cx="8207375" cy="1427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" type="body"/>
          </p:nvPr>
        </p:nvSpPr>
        <p:spPr>
          <a:xfrm>
            <a:off x="457200" y="1600200"/>
            <a:ext cx="8207375" cy="451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0" type="dt"/>
          </p:nvPr>
        </p:nvSpPr>
        <p:spPr>
          <a:xfrm>
            <a:off x="457200" y="6356350"/>
            <a:ext cx="2111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124200" y="6127750"/>
            <a:ext cx="28733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553200" y="6356350"/>
            <a:ext cx="2111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type="title"/>
          </p:nvPr>
        </p:nvSpPr>
        <p:spPr>
          <a:xfrm>
            <a:off x="457200" y="128587"/>
            <a:ext cx="8204200" cy="1411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21"/>
          <p:cNvSpPr txBox="1"/>
          <p:nvPr>
            <p:ph idx="1" type="body"/>
          </p:nvPr>
        </p:nvSpPr>
        <p:spPr>
          <a:xfrm>
            <a:off x="457200" y="1600200"/>
            <a:ext cx="8204200" cy="451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457200" y="274637"/>
            <a:ext cx="82264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457200" y="1600200"/>
            <a:ext cx="8226425" cy="45227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0" type="dt"/>
          </p:nvPr>
        </p:nvSpPr>
        <p:spPr>
          <a:xfrm>
            <a:off x="457200" y="6356350"/>
            <a:ext cx="2130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3"/>
          <p:cNvSpPr txBox="1"/>
          <p:nvPr>
            <p:ph idx="11" type="ftr"/>
          </p:nvPr>
        </p:nvSpPr>
        <p:spPr>
          <a:xfrm>
            <a:off x="3124200" y="6356350"/>
            <a:ext cx="2892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3"/>
          <p:cNvSpPr txBox="1"/>
          <p:nvPr>
            <p:ph idx="12" type="sldNum"/>
          </p:nvPr>
        </p:nvSpPr>
        <p:spPr>
          <a:xfrm>
            <a:off x="6553200" y="6356350"/>
            <a:ext cx="2130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-214311" lvl="0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14311" lvl="1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14311" lvl="2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14311" lvl="3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14311" lvl="4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14311" lvl="5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14311" lvl="6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14311" lvl="7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14311" lvl="8" marL="215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14311" lvl="0" marL="2159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457200" y="128587"/>
            <a:ext cx="8207400" cy="14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25"/>
          <p:cNvSpPr txBox="1"/>
          <p:nvPr>
            <p:ph idx="1" type="body"/>
          </p:nvPr>
        </p:nvSpPr>
        <p:spPr>
          <a:xfrm>
            <a:off x="457200" y="1600200"/>
            <a:ext cx="8207400" cy="4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1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127750"/>
            <a:ext cx="28734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11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18.png"/><Relationship Id="rId8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3.jpg"/><Relationship Id="rId5" Type="http://schemas.openxmlformats.org/officeDocument/2006/relationships/image" Target="../media/image25.jpg"/><Relationship Id="rId6" Type="http://schemas.openxmlformats.org/officeDocument/2006/relationships/image" Target="../media/image3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 b="46854" l="32355" r="53658" t="0"/>
          <a:stretch/>
        </p:blipFill>
        <p:spPr>
          <a:xfrm>
            <a:off x="0" y="0"/>
            <a:ext cx="10683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 txBox="1"/>
          <p:nvPr/>
        </p:nvSpPr>
        <p:spPr>
          <a:xfrm>
            <a:off x="4036250" y="5885050"/>
            <a:ext cx="48675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933C"/>
              </a:buClr>
              <a:buSzPts val="1800"/>
              <a:buFont typeface="Balthazar"/>
              <a:buNone/>
            </a:pPr>
            <a:r>
              <a:rPr b="1" lang="en-US" sz="1800">
                <a:solidFill>
                  <a:srgbClr val="77933C"/>
                </a:solidFill>
                <a:latin typeface="Montserrat"/>
                <a:ea typeface="Montserrat"/>
                <a:cs typeface="Montserrat"/>
                <a:sym typeface="Montserrat"/>
              </a:rPr>
              <a:t>Itariri, Junho 2023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9025" y="663450"/>
            <a:ext cx="3133725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3ec37c76b_0_491"/>
          <p:cNvSpPr txBox="1"/>
          <p:nvPr/>
        </p:nvSpPr>
        <p:spPr>
          <a:xfrm>
            <a:off x="699550" y="1123117"/>
            <a:ext cx="7955700" cy="48321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</a:t>
            </a:r>
            <a:r>
              <a:rPr b="1" lang="en-US" sz="15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b="1" i="0" lang="en-US" sz="1500" u="none" cap="none" strike="noStrike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Graduados na incubadora da US</a:t>
            </a:r>
            <a:r>
              <a:rPr b="1" lang="en-US" sz="15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P </a:t>
            </a:r>
            <a:endParaRPr b="1" sz="15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 					Inicio das Opera</a:t>
            </a:r>
            <a:r>
              <a:rPr b="1" lang="en-US" sz="15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ções em 2014</a:t>
            </a:r>
            <a:r>
              <a:rPr b="1" i="0" lang="en-US" sz="1500" u="none" cap="none" strike="noStrike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						</a:t>
            </a:r>
            <a:endParaRPr b="1" i="0" sz="1500" u="none" cap="none" strike="noStrike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Prêmio Grandes Case de Embalagem 2019</a:t>
            </a:r>
            <a:endParaRPr b="1" i="0" sz="1500" u="none" cap="none" strike="noStrike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p</a:t>
            </a:r>
            <a:r>
              <a:rPr b="1" i="0" lang="en-US" sz="1500" u="none" cap="none" strike="noStrike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or introduzir as bandejas de celulose no mercado brasileiro</a:t>
            </a:r>
            <a:endParaRPr b="1" sz="15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b="1" i="0" lang="en-US" sz="1500" u="none" cap="none" strike="noStrike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Acelerados pelo Programa Braskem Labs 2020</a:t>
            </a:r>
            <a:endParaRPr b="1" i="0" sz="1500" u="none" cap="none" strike="noStrike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Nossos produtos a base de celulose substituem plásticos em todas as regiões do país</a:t>
            </a:r>
            <a:endParaRPr b="1" i="0" sz="1800" u="none" cap="none" strike="noStrike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50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g1e3ec37c76b_0_491"/>
          <p:cNvPicPr preferRelativeResize="0"/>
          <p:nvPr/>
        </p:nvPicPr>
        <p:blipFill rotWithShape="1">
          <a:blip r:embed="rId3">
            <a:alphaModFix/>
          </a:blip>
          <a:srcRect b="34802" l="6219" r="4158" t="30082"/>
          <a:stretch/>
        </p:blipFill>
        <p:spPr>
          <a:xfrm>
            <a:off x="1132980" y="1914720"/>
            <a:ext cx="1219320" cy="10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1e3ec37c76b_0_491"/>
          <p:cNvPicPr preferRelativeResize="0"/>
          <p:nvPr/>
        </p:nvPicPr>
        <p:blipFill rotWithShape="1">
          <a:blip r:embed="rId3">
            <a:alphaModFix/>
          </a:blip>
          <a:srcRect b="0" l="0" r="239" t="71667"/>
          <a:stretch/>
        </p:blipFill>
        <p:spPr>
          <a:xfrm>
            <a:off x="852487" y="3244776"/>
            <a:ext cx="1437097" cy="8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g1e3ec37c76b_0_4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088" y="1140825"/>
            <a:ext cx="1159560" cy="4451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1e3ec37c76b_0_491"/>
          <p:cNvSpPr txBox="1"/>
          <p:nvPr/>
        </p:nvSpPr>
        <p:spPr>
          <a:xfrm>
            <a:off x="1857743" y="221050"/>
            <a:ext cx="4712100" cy="4863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95511"/>
                </a:solidFill>
              </a:rPr>
              <a:t>Nossa História</a:t>
            </a:r>
            <a:endParaRPr b="1" i="0" sz="2300" u="none" cap="none" strike="noStrike">
              <a:solidFill>
                <a:srgbClr val="3955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1e3ec37c76b_0_554"/>
          <p:cNvPicPr preferRelativeResize="0"/>
          <p:nvPr/>
        </p:nvPicPr>
        <p:blipFill rotWithShape="1">
          <a:blip r:embed="rId3">
            <a:alphaModFix/>
          </a:blip>
          <a:srcRect b="9120" l="48392" r="0" t="7892"/>
          <a:stretch/>
        </p:blipFill>
        <p:spPr>
          <a:xfrm>
            <a:off x="4875438" y="558800"/>
            <a:ext cx="4231825" cy="631658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1e3ec37c76b_0_554"/>
          <p:cNvSpPr txBox="1"/>
          <p:nvPr/>
        </p:nvSpPr>
        <p:spPr>
          <a:xfrm>
            <a:off x="179250" y="129629"/>
            <a:ext cx="6903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0" lIns="100000" spcFirstLastPara="1" rIns="100000" wrap="square" tIns="5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95511"/>
              </a:buClr>
              <a:buSzPts val="2900"/>
              <a:buFont typeface="Balthazar"/>
              <a:buNone/>
            </a:pPr>
            <a:r>
              <a:rPr b="1" lang="en-US" sz="2900">
                <a:solidFill>
                  <a:srgbClr val="395511"/>
                </a:solidFill>
                <a:latin typeface="Montserrat"/>
                <a:ea typeface="Montserrat"/>
                <a:cs typeface="Montserrat"/>
                <a:sym typeface="Montserrat"/>
              </a:rPr>
              <a:t>Bandejas Biodegradáveis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g1e3ec37c76b_0_554"/>
          <p:cNvSpPr txBox="1"/>
          <p:nvPr/>
        </p:nvSpPr>
        <p:spPr>
          <a:xfrm>
            <a:off x="218463" y="1159783"/>
            <a:ext cx="4656900" cy="50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Mais de </a:t>
            </a:r>
            <a:r>
              <a:rPr b="1" lang="en-US" sz="24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22 milhões de bandejas de isopor substituídas </a:t>
            </a:r>
            <a:endParaRPr b="1" sz="24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Produção Média</a:t>
            </a:r>
            <a:r>
              <a:rPr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22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aprox  </a:t>
            </a:r>
            <a:r>
              <a:rPr b="1" lang="en-US" sz="22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400 mil bandejas/mês</a:t>
            </a:r>
            <a:r>
              <a:rPr lang="en-US" sz="22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endParaRPr sz="22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Capacidade Instalada</a:t>
            </a:r>
            <a:r>
              <a:rPr lang="en-US" sz="21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21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Aprox </a:t>
            </a:r>
            <a:r>
              <a:rPr b="1" lang="en-US" sz="21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1 milhão de unidades mês</a:t>
            </a:r>
            <a:endParaRPr b="1" sz="21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-US" sz="21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Faturamento:</a:t>
            </a:r>
            <a:r>
              <a:rPr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21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R$ 1,5 mi/ano </a:t>
            </a:r>
            <a:endParaRPr b="1" sz="21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b="1" sz="21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-US" sz="21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Clientes: </a:t>
            </a:r>
            <a:r>
              <a:rPr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Da feira de produtores de orgânicos a grandes Redes de Varejo como </a:t>
            </a:r>
            <a:endParaRPr sz="16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Pão de Açucar, Carrefour, Zaffari</a:t>
            </a:r>
            <a:r>
              <a:rPr b="1"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34925" y="549275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5" name="Google Shape;105;p2"/>
          <p:cNvSpPr txBox="1"/>
          <p:nvPr/>
        </p:nvSpPr>
        <p:spPr>
          <a:xfrm>
            <a:off x="4748" y="176200"/>
            <a:ext cx="6548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b="1" i="0" lang="en-US" sz="180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TAMOIOS TECNOLOGIA </a:t>
            </a:r>
            <a:r>
              <a:rPr b="1" lang="en-US" sz="1800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- Embalagens Técnicas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rgbClr val="4F622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553200" y="63579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25" y="1262062"/>
            <a:ext cx="6802437" cy="4621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2636837"/>
            <a:ext cx="15113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46854" l="32355" r="33332" t="0"/>
          <a:stretch/>
        </p:blipFill>
        <p:spPr>
          <a:xfrm>
            <a:off x="8167687" y="0"/>
            <a:ext cx="976312" cy="141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6554787" y="63579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3"/>
          <p:cNvCxnSpPr/>
          <p:nvPr/>
        </p:nvCxnSpPr>
        <p:spPr>
          <a:xfrm>
            <a:off x="36512" y="550862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24" name="Google Shape;124;p3"/>
          <p:cNvSpPr txBox="1"/>
          <p:nvPr/>
        </p:nvSpPr>
        <p:spPr>
          <a:xfrm>
            <a:off x="180975" y="180975"/>
            <a:ext cx="7134225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b="1" i="0" lang="en-US" sz="180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Unidade ANA DIAS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85800"/>
            <a:ext cx="73152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830262" y="5154612"/>
            <a:ext cx="70137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55E00"/>
              </a:buClr>
              <a:buSzPts val="2000"/>
              <a:buFont typeface="Trebuchet MS"/>
              <a:buNone/>
            </a:pPr>
            <a:r>
              <a:rPr b="1" i="0" lang="en-US" sz="1700" u="none">
                <a:solidFill>
                  <a:srgbClr val="355E00"/>
                </a:solidFill>
                <a:latin typeface="Montserrat"/>
                <a:ea typeface="Montserrat"/>
                <a:cs typeface="Montserrat"/>
                <a:sym typeface="Montserrat"/>
              </a:rPr>
              <a:t>Área Total - ~ 3.000 m2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55E00"/>
              </a:buClr>
              <a:buSzPts val="2000"/>
              <a:buFont typeface="Trebuchet MS"/>
              <a:buNone/>
            </a:pPr>
            <a:r>
              <a:rPr b="1" i="0" lang="en-US" sz="1700" u="none">
                <a:solidFill>
                  <a:srgbClr val="355E00"/>
                </a:solidFill>
                <a:latin typeface="Montserrat"/>
                <a:ea typeface="Montserrat"/>
                <a:cs typeface="Montserrat"/>
                <a:sym typeface="Montserrat"/>
              </a:rPr>
              <a:t>Área Fabril – 1000 m2 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355E00"/>
              </a:buClr>
              <a:buSzPts val="2000"/>
              <a:buFont typeface="Trebuchet MS"/>
              <a:buNone/>
            </a:pPr>
            <a:r>
              <a:rPr b="1" i="0" lang="en-US" sz="1700" u="none">
                <a:solidFill>
                  <a:srgbClr val="355E00"/>
                </a:solidFill>
                <a:latin typeface="Montserrat"/>
                <a:ea typeface="Montserrat"/>
                <a:cs typeface="Montserrat"/>
                <a:sym typeface="Montserrat"/>
              </a:rPr>
              <a:t>Área para Produção, Laboratório, Oficina e Escritório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00" u="none">
              <a:solidFill>
                <a:srgbClr val="355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553200" y="635793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80975" y="6356350"/>
            <a:ext cx="816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125" y="0"/>
            <a:ext cx="1285875" cy="1500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3"/>
          <p:cNvGrpSpPr/>
          <p:nvPr/>
        </p:nvGrpSpPr>
        <p:grpSpPr>
          <a:xfrm>
            <a:off x="5010150" y="2389187"/>
            <a:ext cx="2020887" cy="660400"/>
            <a:chOff x="3156" y="1505"/>
            <a:chExt cx="1273" cy="416"/>
          </a:xfrm>
        </p:grpSpPr>
        <p:pic>
          <p:nvPicPr>
            <p:cNvPr id="132" name="Google Shape;13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56" y="1505"/>
              <a:ext cx="1273" cy="4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3"/>
            <p:cNvSpPr/>
            <p:nvPr/>
          </p:nvSpPr>
          <p:spPr>
            <a:xfrm>
              <a:off x="3285" y="1620"/>
              <a:ext cx="1111" cy="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0" name="Google Shape;140;p4"/>
          <p:cNvCxnSpPr/>
          <p:nvPr/>
        </p:nvCxnSpPr>
        <p:spPr>
          <a:xfrm>
            <a:off x="34925" y="506412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67687" y="-42862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6553200" y="63134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-36512" y="136525"/>
            <a:ext cx="5400675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b="1" i="0" lang="en-US" sz="18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NOSSOS PRODUTOS</a:t>
            </a:r>
            <a:endParaRPr/>
          </a:p>
        </p:txBody>
      </p:sp>
      <p:pic>
        <p:nvPicPr>
          <p:cNvPr id="144" name="Google Shape;1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0900" y="1225550"/>
            <a:ext cx="7493000" cy="4967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542925" y="688975"/>
            <a:ext cx="6115050" cy="35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5"/>
          <p:cNvCxnSpPr/>
          <p:nvPr/>
        </p:nvCxnSpPr>
        <p:spPr>
          <a:xfrm>
            <a:off x="34925" y="549275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67687" y="0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300" y="920750"/>
            <a:ext cx="7740650" cy="515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-36512" y="179387"/>
            <a:ext cx="64374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POLPA MOLDADA – Calços Técnicos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Google Shape;165;p6"/>
          <p:cNvCxnSpPr/>
          <p:nvPr/>
        </p:nvCxnSpPr>
        <p:spPr>
          <a:xfrm>
            <a:off x="34925" y="549275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67687" y="0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573212"/>
            <a:ext cx="2414587" cy="18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525" y="3717925"/>
            <a:ext cx="4260851" cy="1811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8437" y="3706812"/>
            <a:ext cx="3163888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-36512" y="179387"/>
            <a:ext cx="54006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POLPA MOLDADA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2" name="Google Shape;172;p6"/>
          <p:cNvGrpSpPr/>
          <p:nvPr/>
        </p:nvGrpSpPr>
        <p:grpSpPr>
          <a:xfrm>
            <a:off x="1279525" y="574675"/>
            <a:ext cx="4991100" cy="1350962"/>
            <a:chOff x="806" y="362"/>
            <a:chExt cx="3144" cy="851"/>
          </a:xfrm>
        </p:grpSpPr>
        <p:sp>
          <p:nvSpPr>
            <p:cNvPr id="173" name="Google Shape;173;p6"/>
            <p:cNvSpPr/>
            <p:nvPr/>
          </p:nvSpPr>
          <p:spPr>
            <a:xfrm>
              <a:off x="806" y="746"/>
              <a:ext cx="3062" cy="4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950" y="362"/>
              <a:ext cx="30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5025" spcFirstLastPara="1" rIns="185025" wrap="square" tIns="1850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F6228"/>
                </a:buClr>
                <a:buSzPts val="2600"/>
                <a:buFont typeface="Balthazar"/>
                <a:buNone/>
              </a:pPr>
              <a:r>
                <a:rPr b="1" i="0" lang="en-US" sz="2600" u="none">
                  <a:solidFill>
                    <a:srgbClr val="4F622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CALÇOS TÉCNICOS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75" name="Google Shape;17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52800" y="1590675"/>
            <a:ext cx="2408237" cy="1811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6900" y="1590675"/>
            <a:ext cx="2408237" cy="1811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7"/>
          <p:cNvCxnSpPr/>
          <p:nvPr/>
        </p:nvCxnSpPr>
        <p:spPr>
          <a:xfrm>
            <a:off x="34925" y="549275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185" name="Google Shape;185;p7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67687" y="0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" y="974725"/>
            <a:ext cx="8528050" cy="56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 txBox="1"/>
          <p:nvPr/>
        </p:nvSpPr>
        <p:spPr>
          <a:xfrm>
            <a:off x="914400" y="757237"/>
            <a:ext cx="60213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b="1" i="0" lang="en-US" sz="240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Diferentes aplicações e dimensões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3987" y="3852862"/>
            <a:ext cx="2073275" cy="181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7"/>
          <p:cNvSpPr txBox="1"/>
          <p:nvPr/>
        </p:nvSpPr>
        <p:spPr>
          <a:xfrm>
            <a:off x="-36512" y="179387"/>
            <a:ext cx="5340300" cy="4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POLPA MOLDADA – Cantoneiras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8"/>
          <p:cNvCxnSpPr/>
          <p:nvPr/>
        </p:nvCxnSpPr>
        <p:spPr>
          <a:xfrm>
            <a:off x="34925" y="549275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199" name="Google Shape;199;p8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67687" y="0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-36512" y="179387"/>
            <a:ext cx="7900987" cy="763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Embalagem para garrafas –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Embalagem Articulada</a:t>
            </a:r>
            <a:endParaRPr/>
          </a:p>
        </p:txBody>
      </p:sp>
      <p:pic>
        <p:nvPicPr>
          <p:cNvPr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7000" y="1357312"/>
            <a:ext cx="3770312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7437" y="1768475"/>
            <a:ext cx="4310062" cy="216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428625" y="3714750"/>
            <a:ext cx="4500562" cy="23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44725" y="4286250"/>
            <a:ext cx="3970337" cy="1906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7687" y="2617787"/>
            <a:ext cx="6213475" cy="316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9"/>
          <p:cNvCxnSpPr/>
          <p:nvPr/>
        </p:nvCxnSpPr>
        <p:spPr>
          <a:xfrm>
            <a:off x="0" y="463550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215" name="Google Shape;215;p9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32762" y="-85725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 txBox="1"/>
          <p:nvPr/>
        </p:nvSpPr>
        <p:spPr>
          <a:xfrm>
            <a:off x="6518275" y="627062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268287" y="96837"/>
            <a:ext cx="68945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b="1" i="0" lang="en-US" sz="18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 – EMBALAGEM PARA VINHO</a:t>
            </a:r>
            <a:endParaRPr/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4">
            <a:alphaModFix/>
          </a:blip>
          <a:srcRect b="5325" l="10203" r="0" t="23999"/>
          <a:stretch/>
        </p:blipFill>
        <p:spPr>
          <a:xfrm>
            <a:off x="358775" y="871537"/>
            <a:ext cx="4538662" cy="4846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9"/>
          <p:cNvPicPr preferRelativeResize="0"/>
          <p:nvPr/>
        </p:nvPicPr>
        <p:blipFill rotWithShape="1">
          <a:blip r:embed="rId5">
            <a:alphaModFix/>
          </a:blip>
          <a:srcRect b="13322" l="26480" r="21055" t="25332"/>
          <a:stretch/>
        </p:blipFill>
        <p:spPr>
          <a:xfrm>
            <a:off x="5480050" y="1603375"/>
            <a:ext cx="2651125" cy="420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11"/>
          <p:cNvCxnSpPr/>
          <p:nvPr/>
        </p:nvCxnSpPr>
        <p:spPr>
          <a:xfrm>
            <a:off x="34925" y="420687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228" name="Google Shape;228;p11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67687" y="-128587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 txBox="1"/>
          <p:nvPr/>
        </p:nvSpPr>
        <p:spPr>
          <a:xfrm>
            <a:off x="6553200" y="622776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25400" y="26987"/>
            <a:ext cx="71691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1800"/>
              <a:buFont typeface="Balthazar"/>
              <a:buNone/>
            </a:pPr>
            <a:r>
              <a:rPr b="1" i="0" lang="en-US" sz="18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ESCUDO PERSONALIZADO PARA SAPATO – TAMOIOS </a:t>
            </a:r>
            <a:endParaRPr/>
          </a:p>
        </p:txBody>
      </p:sp>
      <p:pic>
        <p:nvPicPr>
          <p:cNvPr id="231" name="Google Shape;231;p11"/>
          <p:cNvPicPr preferRelativeResize="0"/>
          <p:nvPr/>
        </p:nvPicPr>
        <p:blipFill rotWithShape="1">
          <a:blip r:embed="rId4">
            <a:alphaModFix/>
          </a:blip>
          <a:srcRect b="13792" l="10997" r="14997" t="18736"/>
          <a:stretch/>
        </p:blipFill>
        <p:spPr>
          <a:xfrm>
            <a:off x="363537" y="844550"/>
            <a:ext cx="3657600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7612" y="1541462"/>
            <a:ext cx="3657600" cy="203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2812" y="3367087"/>
            <a:ext cx="3657600" cy="24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239;p12"/>
          <p:cNvCxnSpPr/>
          <p:nvPr/>
        </p:nvCxnSpPr>
        <p:spPr>
          <a:xfrm>
            <a:off x="65087" y="506412"/>
            <a:ext cx="7021512" cy="1587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5400000" dist="20160">
              <a:srgbClr val="000000">
                <a:alpha val="37647"/>
              </a:srgbClr>
            </a:outerShdw>
          </a:effectLst>
        </p:spPr>
      </p:cxnSp>
      <p:pic>
        <p:nvPicPr>
          <p:cNvPr id="240" name="Google Shape;240;p12"/>
          <p:cNvPicPr preferRelativeResize="0"/>
          <p:nvPr/>
        </p:nvPicPr>
        <p:blipFill rotWithShape="1">
          <a:blip r:embed="rId3">
            <a:alphaModFix/>
          </a:blip>
          <a:srcRect b="46854" l="32355" r="33332" t="0"/>
          <a:stretch/>
        </p:blipFill>
        <p:spPr>
          <a:xfrm>
            <a:off x="8197850" y="-42862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2"/>
          <p:cNvSpPr txBox="1"/>
          <p:nvPr/>
        </p:nvSpPr>
        <p:spPr>
          <a:xfrm>
            <a:off x="6583362" y="631348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42" name="Google Shape;242;p12"/>
          <p:cNvSpPr txBox="1"/>
          <p:nvPr/>
        </p:nvSpPr>
        <p:spPr>
          <a:xfrm>
            <a:off x="-6350" y="136525"/>
            <a:ext cx="7596187" cy="1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POLPA MOLDADA – Calço compressores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t/>
            </a:r>
            <a:endParaRPr b="1" i="0" sz="2200" u="none">
              <a:solidFill>
                <a:srgbClr val="4F6228"/>
              </a:solidFill>
              <a:latin typeface="Balthazar"/>
              <a:ea typeface="Balthazar"/>
              <a:cs typeface="Balthazar"/>
              <a:sym typeface="Balthaza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200"/>
              <a:buFont typeface="Balthazar"/>
              <a:buNone/>
            </a:pPr>
            <a:r>
              <a:rPr b="1" i="0" lang="en-US" sz="2200" u="none">
                <a:solidFill>
                  <a:srgbClr val="4F6228"/>
                </a:solidFill>
                <a:latin typeface="Balthazar"/>
                <a:ea typeface="Balthazar"/>
                <a:cs typeface="Balthazar"/>
                <a:sym typeface="Balthazar"/>
              </a:rPr>
              <a:t>Calço de grande dimensão para equipamentos</a:t>
            </a:r>
            <a:endParaRPr/>
          </a:p>
        </p:txBody>
      </p:sp>
      <p:pic>
        <p:nvPicPr>
          <p:cNvPr id="243" name="Google Shape;243;p12"/>
          <p:cNvPicPr preferRelativeResize="0"/>
          <p:nvPr/>
        </p:nvPicPr>
        <p:blipFill rotWithShape="1">
          <a:blip r:embed="rId4">
            <a:alphaModFix/>
          </a:blip>
          <a:srcRect b="0" l="0" r="11993" t="0"/>
          <a:stretch/>
        </p:blipFill>
        <p:spPr>
          <a:xfrm>
            <a:off x="822325" y="1673225"/>
            <a:ext cx="6400800" cy="408781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2"/>
          <p:cNvSpPr txBox="1"/>
          <p:nvPr/>
        </p:nvSpPr>
        <p:spPr>
          <a:xfrm>
            <a:off x="228600" y="6356350"/>
            <a:ext cx="816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r>
              <a:rPr lang="en-US" sz="1200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23</a:t>
            </a:r>
            <a:r>
              <a:rPr i="0" lang="en-US" sz="1200" u="none">
                <a:solidFill>
                  <a:srgbClr val="898989"/>
                </a:solidFill>
                <a:latin typeface="Montserrat"/>
                <a:ea typeface="Montserrat"/>
                <a:cs typeface="Montserrat"/>
                <a:sym typeface="Montserrat"/>
              </a:rPr>
              <a:t> | Confidencial - Este documento é uma cópia controlada e todos os seus direitos estão reservados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g1e3ec37c76b_0_83"/>
          <p:cNvPicPr preferRelativeResize="0"/>
          <p:nvPr/>
        </p:nvPicPr>
        <p:blipFill rotWithShape="1">
          <a:blip r:embed="rId3">
            <a:alphaModFix/>
          </a:blip>
          <a:srcRect b="46853" l="32356" r="33331" t="0"/>
          <a:stretch/>
        </p:blipFill>
        <p:spPr>
          <a:xfrm>
            <a:off x="8167687" y="0"/>
            <a:ext cx="976312" cy="14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1e3ec37c76b_0_83"/>
          <p:cNvSpPr txBox="1"/>
          <p:nvPr/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cxnSp>
        <p:nvCxnSpPr>
          <p:cNvPr id="253" name="Google Shape;253;g1e3ec37c76b_0_83"/>
          <p:cNvCxnSpPr/>
          <p:nvPr/>
        </p:nvCxnSpPr>
        <p:spPr>
          <a:xfrm>
            <a:off x="90487" y="704850"/>
            <a:ext cx="7021500" cy="1500"/>
          </a:xfrm>
          <a:prstGeom prst="straightConnector1">
            <a:avLst/>
          </a:prstGeom>
          <a:noFill/>
          <a:ln cap="sq" cmpd="sng" w="25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54" name="Google Shape;254;g1e3ec37c76b_0_83"/>
          <p:cNvSpPr txBox="1"/>
          <p:nvPr/>
        </p:nvSpPr>
        <p:spPr>
          <a:xfrm>
            <a:off x="1565925" y="6356367"/>
            <a:ext cx="656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 | Confidencial - Este documento é uma cópia controlada e todos os seus direitos estão reservados</a:t>
            </a:r>
            <a:endParaRPr/>
          </a:p>
        </p:txBody>
      </p:sp>
      <p:sp>
        <p:nvSpPr>
          <p:cNvPr id="255" name="Google Shape;255;g1e3ec37c76b_0_83"/>
          <p:cNvSpPr txBox="1"/>
          <p:nvPr/>
        </p:nvSpPr>
        <p:spPr>
          <a:xfrm>
            <a:off x="142875" y="179400"/>
            <a:ext cx="8024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6228"/>
              </a:buClr>
              <a:buSzPts val="2400"/>
              <a:buFont typeface="Balthazar"/>
              <a:buNone/>
            </a:pPr>
            <a:r>
              <a:rPr b="1" lang="en-US" sz="2000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Polpa Moldada com </a:t>
            </a:r>
            <a:r>
              <a:rPr b="1" lang="en-US" sz="2000">
                <a:solidFill>
                  <a:srgbClr val="4F6228"/>
                </a:solidFill>
                <a:latin typeface="Montserrat"/>
                <a:ea typeface="Montserrat"/>
                <a:cs typeface="Montserrat"/>
                <a:sym typeface="Montserrat"/>
              </a:rPr>
              <a:t>Fibra de Banana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6" name="Google Shape;256;g1e3ec37c76b_0_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875" y="1017449"/>
            <a:ext cx="2904426" cy="51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1e3ec37c76b_0_83"/>
          <p:cNvSpPr txBox="1"/>
          <p:nvPr/>
        </p:nvSpPr>
        <p:spPr>
          <a:xfrm>
            <a:off x="3294850" y="1609275"/>
            <a:ext cx="5391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Tamoios vem desenvolvendo métodos de incorporação de resíduos agrícolas na estrutura das suas embalagens.</a:t>
            </a:r>
            <a:br>
              <a:rPr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Esta combinação vai produzir uma nova família de produtos com diferentes aplicações.</a:t>
            </a:r>
            <a:endParaRPr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68A1A"/>
                </a:solidFill>
                <a:latin typeface="Montserrat"/>
                <a:ea typeface="Montserrat"/>
                <a:cs typeface="Montserrat"/>
                <a:sym typeface="Montserrat"/>
              </a:rPr>
              <a:t>Criando uma nova fronteira de sustentabilidade no setor de embalagens. </a:t>
            </a:r>
            <a:endParaRPr b="1"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68A1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1e3ec37c76b_0_8"/>
          <p:cNvPicPr preferRelativeResize="0"/>
          <p:nvPr/>
        </p:nvPicPr>
        <p:blipFill rotWithShape="1">
          <a:blip r:embed="rId3">
            <a:alphaModFix/>
          </a:blip>
          <a:srcRect b="45478" l="31616" r="28882" t="2758"/>
          <a:stretch/>
        </p:blipFill>
        <p:spPr>
          <a:xfrm>
            <a:off x="8533950" y="75587"/>
            <a:ext cx="610050" cy="99399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1e3ec37c76b_0_8"/>
          <p:cNvSpPr txBox="1"/>
          <p:nvPr/>
        </p:nvSpPr>
        <p:spPr>
          <a:xfrm>
            <a:off x="124076" y="81033"/>
            <a:ext cx="8243100" cy="5223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5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468A1A"/>
                </a:solidFill>
              </a:rPr>
              <a:t>Fazemos a embalagem</a:t>
            </a:r>
            <a:r>
              <a:rPr b="1" lang="en-US" sz="2500">
                <a:solidFill>
                  <a:srgbClr val="468A1A"/>
                </a:solidFill>
              </a:rPr>
              <a:t> mais sustentável do Brasil </a:t>
            </a:r>
            <a:endParaRPr b="1" i="0" sz="2500" u="none" cap="none" strike="noStrike">
              <a:solidFill>
                <a:srgbClr val="468A1A"/>
              </a:solidFill>
            </a:endParaRPr>
          </a:p>
        </p:txBody>
      </p:sp>
      <p:sp>
        <p:nvSpPr>
          <p:cNvPr id="264" name="Google Shape;264;g1e3ec37c76b_0_8"/>
          <p:cNvSpPr txBox="1"/>
          <p:nvPr/>
        </p:nvSpPr>
        <p:spPr>
          <a:xfrm>
            <a:off x="834300" y="6292800"/>
            <a:ext cx="3562200" cy="5208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93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95511"/>
                </a:solidFill>
                <a:latin typeface="Arial"/>
                <a:ea typeface="Arial"/>
                <a:cs typeface="Arial"/>
                <a:sym typeface="Arial"/>
              </a:rPr>
              <a:t>Valores obtidos usando a ferramenta Paper Calculator (https://c.environmentalpaper.org) e valores de literatura</a:t>
            </a:r>
            <a:endParaRPr b="0" i="0" sz="1100" u="none" cap="none" strike="noStrike">
              <a:solidFill>
                <a:srgbClr val="3955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3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3955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1e3ec37c76b_0_8"/>
          <p:cNvSpPr txBox="1"/>
          <p:nvPr/>
        </p:nvSpPr>
        <p:spPr>
          <a:xfrm>
            <a:off x="5581800" y="898767"/>
            <a:ext cx="3180900" cy="5267100"/>
          </a:xfrm>
          <a:prstGeom prst="rect">
            <a:avLst/>
          </a:prstGeom>
          <a:noFill/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5511"/>
                </a:solidFill>
              </a:rPr>
              <a:t>Reciclado* (pré-uso)</a:t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5511"/>
                </a:solidFill>
              </a:rPr>
              <a:t>Recicláveis</a:t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5511"/>
                </a:solidFill>
              </a:rPr>
              <a:t>Compostáveis</a:t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5511"/>
                </a:solidFill>
              </a:rPr>
              <a:t>Biodegradáveis</a:t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5511"/>
                </a:solidFill>
              </a:rPr>
              <a:t>Descarbonizados** (em progresso)</a:t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5511"/>
                </a:solidFill>
              </a:rPr>
              <a:t>Baixo Carbono</a:t>
            </a:r>
            <a:endParaRPr b="1" i="0" sz="1600" u="none" cap="none" strike="noStrike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95511"/>
                </a:solidFill>
              </a:rPr>
              <a:t>Operação em Região Vulnerável</a:t>
            </a:r>
            <a:endParaRPr b="1" sz="1600">
              <a:solidFill>
                <a:srgbClr val="395511"/>
              </a:solidFill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395511"/>
              </a:solidFill>
            </a:endParaRPr>
          </a:p>
        </p:txBody>
      </p:sp>
      <p:pic>
        <p:nvPicPr>
          <p:cNvPr id="266" name="Google Shape;266;g1e3ec37c76b_0_8"/>
          <p:cNvPicPr preferRelativeResize="0"/>
          <p:nvPr/>
        </p:nvPicPr>
        <p:blipFill rotWithShape="1">
          <a:blip r:embed="rId4">
            <a:alphaModFix/>
          </a:blip>
          <a:srcRect b="11190" l="941" r="48687" t="16145"/>
          <a:stretch/>
        </p:blipFill>
        <p:spPr>
          <a:xfrm>
            <a:off x="352425" y="1110350"/>
            <a:ext cx="4951801" cy="4996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1e3ec37c76b_0_8"/>
          <p:cNvSpPr txBox="1"/>
          <p:nvPr>
            <p:ph idx="12" type="sldNum"/>
          </p:nvPr>
        </p:nvSpPr>
        <p:spPr>
          <a:xfrm>
            <a:off x="7944650" y="6572092"/>
            <a:ext cx="1065000" cy="2415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-214313" lvl="0" marL="2159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4"/>
          <p:cNvPicPr preferRelativeResize="0"/>
          <p:nvPr/>
        </p:nvPicPr>
        <p:blipFill rotWithShape="1">
          <a:blip r:embed="rId3">
            <a:alphaModFix/>
          </a:blip>
          <a:srcRect b="46854" l="32355" r="53658" t="0"/>
          <a:stretch/>
        </p:blipFill>
        <p:spPr>
          <a:xfrm>
            <a:off x="0" y="0"/>
            <a:ext cx="10683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 txBox="1"/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280" name="Google Shape;28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6000" y="358775"/>
            <a:ext cx="3133725" cy="29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4"/>
          <p:cNvSpPr txBox="1"/>
          <p:nvPr/>
        </p:nvSpPr>
        <p:spPr>
          <a:xfrm>
            <a:off x="2962275" y="4491037"/>
            <a:ext cx="5400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00"/>
              </a:buClr>
              <a:buSzPts val="2000"/>
              <a:buFont typeface="Balthazar"/>
              <a:buNone/>
            </a:pPr>
            <a:r>
              <a:rPr lang="en-US" sz="2000">
                <a:solidFill>
                  <a:srgbClr val="005800"/>
                </a:solidFill>
                <a:latin typeface="Montserrat"/>
                <a:ea typeface="Montserrat"/>
                <a:cs typeface="Montserrat"/>
                <a:sym typeface="Montserrat"/>
              </a:rPr>
              <a:t>Rafael Nora Tannus</a:t>
            </a:r>
            <a:endParaRPr sz="2000">
              <a:solidFill>
                <a:srgbClr val="0058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00"/>
              </a:buClr>
              <a:buSzPts val="2000"/>
              <a:buFont typeface="Balthazar"/>
              <a:buNone/>
            </a:pPr>
            <a:r>
              <a:rPr lang="en-US" sz="2000">
                <a:solidFill>
                  <a:srgbClr val="005800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i="0" lang="en-US" sz="2000" u="none">
                <a:solidFill>
                  <a:srgbClr val="005800"/>
                </a:solidFill>
                <a:latin typeface="Montserrat"/>
                <a:ea typeface="Montserrat"/>
                <a:cs typeface="Montserrat"/>
                <a:sym typeface="Montserrat"/>
              </a:rPr>
              <a:t>rafael@tamoiostecnologia.com.br</a:t>
            </a:r>
            <a:endParaRPr i="0" sz="2000" u="none">
              <a:solidFill>
                <a:srgbClr val="0058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00"/>
              </a:buClr>
              <a:buSzPts val="2000"/>
              <a:buFont typeface="Balthazar"/>
              <a:buNone/>
            </a:pPr>
            <a:r>
              <a:t/>
            </a:r>
            <a:endParaRPr sz="2000">
              <a:solidFill>
                <a:srgbClr val="0058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2857250" y="3585287"/>
            <a:ext cx="54006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00"/>
              </a:buClr>
              <a:buSzPts val="2000"/>
              <a:buFont typeface="Balthazar"/>
              <a:buNone/>
            </a:pPr>
            <a:r>
              <a:rPr lang="en-US" sz="2000">
                <a:solidFill>
                  <a:srgbClr val="005800"/>
                </a:solidFill>
                <a:latin typeface="Montserrat"/>
                <a:ea typeface="Montserrat"/>
                <a:cs typeface="Montserrat"/>
                <a:sym typeface="Montserrat"/>
              </a:rPr>
              <a:t>Denis Corazza de Almeida </a:t>
            </a:r>
            <a:endParaRPr sz="2000">
              <a:solidFill>
                <a:srgbClr val="0058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00"/>
              </a:buClr>
              <a:buSzPts val="2000"/>
              <a:buFont typeface="Balthazar"/>
              <a:buNone/>
            </a:pPr>
            <a:r>
              <a:rPr lang="en-US" sz="2000">
                <a:solidFill>
                  <a:srgbClr val="005800"/>
                </a:solidFill>
                <a:latin typeface="Montserrat"/>
                <a:ea typeface="Montserrat"/>
                <a:cs typeface="Montserrat"/>
                <a:sym typeface="Montserrat"/>
              </a:rPr>
              <a:t>corazzaalmeida@gmail.com</a:t>
            </a:r>
            <a:endParaRPr sz="2000">
              <a:solidFill>
                <a:srgbClr val="0058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AVMaffi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